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43" r:id="rId11"/>
    <p:sldId id="344" r:id="rId12"/>
    <p:sldId id="345" r:id="rId13"/>
    <p:sldId id="265" r:id="rId14"/>
    <p:sldId id="347" r:id="rId15"/>
    <p:sldId id="346" r:id="rId16"/>
    <p:sldId id="348" r:id="rId17"/>
    <p:sldId id="349" r:id="rId18"/>
    <p:sldId id="350" r:id="rId19"/>
    <p:sldId id="353" r:id="rId20"/>
    <p:sldId id="351" r:id="rId21"/>
    <p:sldId id="352" r:id="rId22"/>
    <p:sldId id="267" r:id="rId23"/>
    <p:sldId id="354" r:id="rId24"/>
    <p:sldId id="355" r:id="rId25"/>
    <p:sldId id="356" r:id="rId26"/>
    <p:sldId id="268" r:id="rId27"/>
    <p:sldId id="269" r:id="rId28"/>
    <p:sldId id="270" r:id="rId29"/>
    <p:sldId id="271" r:id="rId30"/>
    <p:sldId id="274" r:id="rId31"/>
    <p:sldId id="272" r:id="rId32"/>
    <p:sldId id="275" r:id="rId33"/>
    <p:sldId id="277" r:id="rId34"/>
    <p:sldId id="273" r:id="rId35"/>
    <p:sldId id="278" r:id="rId36"/>
    <p:sldId id="280" r:id="rId37"/>
    <p:sldId id="279" r:id="rId38"/>
    <p:sldId id="281" r:id="rId39"/>
    <p:sldId id="282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291" r:id="rId56"/>
    <p:sldId id="300" r:id="rId57"/>
    <p:sldId id="301" r:id="rId58"/>
    <p:sldId id="302" r:id="rId59"/>
    <p:sldId id="303" r:id="rId60"/>
    <p:sldId id="304" r:id="rId61"/>
    <p:sldId id="305" r:id="rId62"/>
    <p:sldId id="306" r:id="rId63"/>
    <p:sldId id="307" r:id="rId64"/>
    <p:sldId id="308" r:id="rId65"/>
    <p:sldId id="309" r:id="rId66"/>
    <p:sldId id="310" r:id="rId67"/>
    <p:sldId id="311" r:id="rId68"/>
    <p:sldId id="312" r:id="rId69"/>
    <p:sldId id="313" r:id="rId70"/>
    <p:sldId id="314" r:id="rId71"/>
    <p:sldId id="315" r:id="rId72"/>
    <p:sldId id="316" r:id="rId73"/>
    <p:sldId id="317" r:id="rId74"/>
    <p:sldId id="318" r:id="rId75"/>
    <p:sldId id="319" r:id="rId76"/>
    <p:sldId id="320" r:id="rId77"/>
    <p:sldId id="321" r:id="rId78"/>
    <p:sldId id="322" r:id="rId79"/>
    <p:sldId id="323" r:id="rId80"/>
    <p:sldId id="324" r:id="rId81"/>
    <p:sldId id="325" r:id="rId82"/>
    <p:sldId id="326" r:id="rId83"/>
    <p:sldId id="327" r:id="rId84"/>
    <p:sldId id="328" r:id="rId85"/>
    <p:sldId id="329" r:id="rId86"/>
    <p:sldId id="330" r:id="rId87"/>
    <p:sldId id="331" r:id="rId88"/>
    <p:sldId id="332" r:id="rId89"/>
    <p:sldId id="333" r:id="rId90"/>
    <p:sldId id="334" r:id="rId91"/>
    <p:sldId id="335" r:id="rId92"/>
    <p:sldId id="336" r:id="rId93"/>
    <p:sldId id="337" r:id="rId94"/>
    <p:sldId id="338" r:id="rId95"/>
    <p:sldId id="339" r:id="rId96"/>
    <p:sldId id="340" r:id="rId97"/>
    <p:sldId id="341" r:id="rId98"/>
    <p:sldId id="342" r:id="rId9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216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7B459-8CF6-2834-C881-1FF2F7302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F67087-3DCF-4B4E-A1AF-46C59A5C83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8EB953-DB02-FCE1-2EDB-51062A281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D9944-9721-1FFA-A587-BEADA09686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3898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42F15-79A2-31F8-F039-8CBC9D43B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17567-521E-D163-34C1-8F0F09BF8C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F9A82B-BD0A-4117-8DBA-4DC9C7764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D7167-69DB-CD82-A210-B9B4F2DF9D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8396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140DB-F5FD-F00F-4E21-37E4F1851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E2922-EAF0-0471-150A-04A734B76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73884B-DF90-1CDB-8AC5-984D29B3C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D20E9-08CA-4AFD-6DDF-B8928CA0BB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0603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3542B-7428-730E-F1DA-BDCE813AE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A8E872-E32A-280E-797D-621010FFE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64B2E-AF3B-4AD0-8584-44638740C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BFAD4-3D73-EF64-DB20-53D562B42A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4878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SmartSignDeck | Cloud-Based Digital Signage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89204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Dharmsinh Desai University | BCA Final Year Project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828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366"/>
                </a:solidFill>
              </a:rPr>
              <a:t>Dharmsinh Desai University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82880" y="4114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Faculty of Information Science (BCA)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3366"/>
                </a:solidFill>
              </a:rPr>
              <a:t>SmartSignDeck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381E"/>
                </a:solidFill>
              </a:rPr>
              <a:t>Cloud-Based Digital Signage SaaS Platform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INTERNAL GUIDE: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Prof. Minaz Shaikh 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365760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</a:rPr>
              <a:t>PRESENTED BY: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0" y="393192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</a:rPr>
              <a:t>DHIMANT N. PANDYA </a:t>
            </a:r>
            <a:endParaRPr lang="en-US" sz="1200" dirty="0"/>
          </a:p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</a:rPr>
              <a:t>(BC065 / 23BCUOS076)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4892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BCA Final Year Project |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Contents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About The System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Existing System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Proposed System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Data Flow Diagram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Entity Relationship Diagram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Data Dictionaries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System Screen Layouts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System Generated Reports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Scope &amp; Limitations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Future Expansion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About The 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2667525"/>
            <a:ext cx="8412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500"/>
              </a:lnSpc>
            </a:pPr>
            <a:r>
              <a:rPr lang="en-US" sz="1800" dirty="0">
                <a:solidFill>
                  <a:srgbClr val="000000"/>
                </a:solidFill>
              </a:rPr>
              <a:t>• </a:t>
            </a:r>
            <a:r>
              <a:rPr lang="en-US" dirty="0" err="1">
                <a:solidFill>
                  <a:srgbClr val="000000"/>
                </a:solidFill>
              </a:rPr>
              <a:t>SmartSignDeck</a:t>
            </a:r>
            <a:r>
              <a:rPr lang="en-US" dirty="0">
                <a:solidFill>
                  <a:srgbClr val="000000"/>
                </a:solidFill>
              </a:rPr>
              <a:t> is a comprehensive, cloud-based Digital Signage Management SaaS platform. </a:t>
            </a:r>
            <a:endParaRPr lang="en-US" dirty="0"/>
          </a:p>
          <a:p>
            <a:pPr>
              <a:lnSpc>
                <a:spcPts val="2500"/>
              </a:lnSpc>
            </a:pPr>
            <a:endParaRPr lang="en-US" dirty="0"/>
          </a:p>
          <a:p>
            <a:pPr>
              <a:lnSpc>
                <a:spcPts val="2500"/>
              </a:lnSpc>
            </a:pPr>
            <a:r>
              <a:rPr lang="en-US" dirty="0">
                <a:solidFill>
                  <a:srgbClr val="000000"/>
                </a:solidFill>
              </a:rPr>
              <a:t>It is designed to enable businesses, advertisers, and organizations to seamlessly control and update digital displays (TVs, Monitors, Billboards) located anywhere in the world from a single centralized dashboard.</a:t>
            </a:r>
            <a:endParaRPr lang="en-US" dirty="0"/>
          </a:p>
          <a:p>
            <a:pPr>
              <a:lnSpc>
                <a:spcPts val="2500"/>
              </a:lnSpc>
            </a:pPr>
            <a:endParaRPr lang="en-US" dirty="0"/>
          </a:p>
          <a:p>
            <a:pPr>
              <a:lnSpc>
                <a:spcPts val="2500"/>
              </a:lnSpc>
            </a:pPr>
            <a:r>
              <a:rPr lang="en-US" dirty="0">
                <a:solidFill>
                  <a:srgbClr val="000000"/>
                </a:solidFill>
              </a:rPr>
              <a:t>Traditionally, updating a digital screen required a person to physically travel to the display monitor and plug in a USB drive. </a:t>
            </a:r>
            <a:r>
              <a:rPr lang="en-US" dirty="0" err="1">
                <a:solidFill>
                  <a:srgbClr val="000000"/>
                </a:solidFill>
              </a:rPr>
              <a:t>SmartSignDeck</a:t>
            </a:r>
            <a:r>
              <a:rPr lang="en-US" dirty="0">
                <a:solidFill>
                  <a:srgbClr val="000000"/>
                </a:solidFill>
              </a:rPr>
              <a:t> completely eliminates this manual effort by leveraging internet connectivity to push content to screens remotely.</a:t>
            </a:r>
            <a:endParaRPr lang="en-US" dirty="0"/>
          </a:p>
          <a:p>
            <a:pPr marL="0" indent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Hardware &amp; Software Details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Software Technologies (MERN Stack):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Frontend: React.js, TypeScript, Fabric.js (Canvas)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Backend: Node.js, Express.js, Socket.IO (WebSockets)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Database: MongoDB Atlas (Mongoose ORM)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Cloud Services: Firebase Auth, Cloudinary (Media)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Hardware Requirements: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320040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Cloud Server: 2 vCPUs, 2GB RAM minimum (Backend Hosting)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Display Server (Player): Smart TV, Raspberry Pi, or mini-PC on Internet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Network: Standard WiFi/Broadband for live WebSocket stream.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Detailed Description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2769476"/>
            <a:ext cx="8412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500"/>
              </a:lnSpc>
            </a:pPr>
            <a:r>
              <a:rPr lang="en-US" dirty="0">
                <a:solidFill>
                  <a:srgbClr val="000000"/>
                </a:solidFill>
              </a:rPr>
              <a:t>Main Points in Traditional Systems:</a:t>
            </a:r>
            <a:endParaRPr lang="en-US" dirty="0"/>
          </a:p>
          <a:p>
            <a:pPr>
              <a:lnSpc>
                <a:spcPts val="2500"/>
              </a:lnSpc>
            </a:pPr>
            <a:endParaRPr lang="en-US" dirty="0"/>
          </a:p>
          <a:p>
            <a:pPr>
              <a:lnSpc>
                <a:spcPts val="2500"/>
              </a:lnSpc>
            </a:pPr>
            <a:r>
              <a:rPr lang="en-US" dirty="0">
                <a:solidFill>
                  <a:srgbClr val="000000"/>
                </a:solidFill>
              </a:rPr>
              <a:t>• Manual Effort: Content is stored on USB drives; employees must physically travel to displays to plug them in.</a:t>
            </a:r>
            <a:endParaRPr lang="en-US" dirty="0"/>
          </a:p>
          <a:p>
            <a:pPr>
              <a:lnSpc>
                <a:spcPts val="2500"/>
              </a:lnSpc>
            </a:pPr>
            <a:r>
              <a:rPr lang="en-US" dirty="0">
                <a:solidFill>
                  <a:srgbClr val="000000"/>
                </a:solidFill>
              </a:rPr>
              <a:t>• No Centralization: Impossible to sync or update multiple billboards in different cities at the same time.</a:t>
            </a:r>
            <a:endParaRPr lang="en-US" dirty="0"/>
          </a:p>
          <a:p>
            <a:pPr>
              <a:lnSpc>
                <a:spcPts val="2500"/>
              </a:lnSpc>
            </a:pPr>
            <a:r>
              <a:rPr lang="en-US" dirty="0">
                <a:solidFill>
                  <a:srgbClr val="000000"/>
                </a:solidFill>
              </a:rPr>
              <a:t>• Blind Operations: Management cannot remotely check if a screen is broken, offline, or turned off.</a:t>
            </a:r>
            <a:endParaRPr lang="en-US" dirty="0"/>
          </a:p>
          <a:p>
            <a:pPr>
              <a:lnSpc>
                <a:spcPts val="2500"/>
              </a:lnSpc>
            </a:pPr>
            <a:r>
              <a:rPr lang="en-US" dirty="0">
                <a:solidFill>
                  <a:srgbClr val="000000"/>
                </a:solidFill>
              </a:rPr>
              <a:t>• Static Content: Very difficult to integrate dynamic elements like Live Clocks or real-time internet feeds alongside videos.</a:t>
            </a:r>
            <a:endParaRPr lang="en-US" dirty="0"/>
          </a:p>
          <a:p>
            <a:pPr marL="0" indent="0">
              <a:lnSpc>
                <a:spcPts val="2200"/>
              </a:lnSpc>
              <a:buNone/>
            </a:pPr>
            <a:endParaRPr lang="en-US" sz="18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9067D4D-3DC7-FE54-F5C1-60A6737C1008}"/>
              </a:ext>
            </a:extLst>
          </p:cNvPr>
          <p:cNvSpPr/>
          <p:nvPr/>
        </p:nvSpPr>
        <p:spPr>
          <a:xfrm>
            <a:off x="365760" y="92175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a) Existing System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0E8F3E97-EF15-A052-B5FE-17938CC4D076}"/>
              </a:ext>
            </a:extLst>
          </p:cNvPr>
          <p:cNvSpPr/>
          <p:nvPr/>
        </p:nvSpPr>
        <p:spPr>
          <a:xfrm>
            <a:off x="160808" y="545487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Detailed Description</a:t>
            </a:r>
            <a:endParaRPr lang="en-US" sz="26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081DBD5-440D-E9A8-19A4-6209AF8D6F2E}"/>
              </a:ext>
            </a:extLst>
          </p:cNvPr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b) Proposed System (SmartSignDeck)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F7A669-E157-8076-F376-47845DE5BBD5}"/>
              </a:ext>
            </a:extLst>
          </p:cNvPr>
          <p:cNvSpPr txBox="1"/>
          <p:nvPr/>
        </p:nvSpPr>
        <p:spPr>
          <a:xfrm>
            <a:off x="278523" y="1315757"/>
            <a:ext cx="8865477" cy="3279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Advantages &amp; Solutions:</a:t>
            </a: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Cloud-Based Pipeline: Admins securely upload layouts globally. Remote screens fetch updates via Wi-Fi/Ethernet.</a:t>
            </a: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Instant WebSocket Triggers: The moment an admin clicks "Deploy", the display updates synchronously worldwide within milliseconds.</a:t>
            </a: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Automated 24/7 Scheduling: Content rules shift layouts based strictly on current timeslots or days independently.</a:t>
            </a: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Dynamic Designer: Embed Videos, Images, QR Codes, and Real-Time Clocks into a custom template canvas seamlessly.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Feasibility Study</a:t>
            </a:r>
            <a:endParaRPr lang="en-US" sz="26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0D77E09-5F87-3C20-D5EF-C9D319B221D2}"/>
              </a:ext>
            </a:extLst>
          </p:cNvPr>
          <p:cNvSpPr/>
          <p:nvPr/>
        </p:nvSpPr>
        <p:spPr>
          <a:xfrm>
            <a:off x="365760" y="118872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1. Technical Feasibility:</a:t>
            </a: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Highly scalable utilizing a modern MERN Stack and WebSocket architecture.</a:t>
            </a: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Extremely low-latency real-time synchronization between server and client screens.</a:t>
            </a: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2. Economic Feasibility:</a:t>
            </a: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Open-source framework eliminating hefty upfront licensing costs.</a:t>
            </a: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Pay-As-You-Go cloud scaling keeps storage and computing inexpensive.</a:t>
            </a: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3. Operational Feasibility:</a:t>
            </a: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Visual drag-and-drop mechanics ensure zero learning-curve for new admins.</a:t>
            </a: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Automates previously tedious physical operations entirely.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8221" y="1172954"/>
            <a:ext cx="822960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System Diagrams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(Use Case, Data Flow, &amp; ER)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Use Case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Super Admin &amp; Multi-User Access</a:t>
            </a:r>
            <a:endParaRPr lang="en-US" sz="2000" dirty="0"/>
          </a:p>
        </p:txBody>
      </p:sp>
      <p:pic>
        <p:nvPicPr>
          <p:cNvPr id="4" name="Image 0" descr="C:\AWT_PRATICAL\SmartSignDeck_Fresh\docs\images\use_case_super_adm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Use Case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b) Admin</a:t>
            </a:r>
            <a:endParaRPr lang="en-US" sz="2000" dirty="0"/>
          </a:p>
        </p:txBody>
      </p:sp>
      <p:pic>
        <p:nvPicPr>
          <p:cNvPr id="4" name="Image 0" descr="C:\AWT_PRATICAL\SmartSignDeck_Fresh\docs\images\use_case_adm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Use Case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c) User</a:t>
            </a:r>
            <a:endParaRPr lang="en-US" sz="2000" dirty="0"/>
          </a:p>
        </p:txBody>
      </p:sp>
      <p:pic>
        <p:nvPicPr>
          <p:cNvPr id="4" name="Image 0" descr="C:\AWT_PRATICAL\SmartSignDeck_Fresh\docs\images\use_case_us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Use Case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d) Advertiser</a:t>
            </a:r>
            <a:endParaRPr lang="en-US" sz="2000" dirty="0"/>
          </a:p>
        </p:txBody>
      </p:sp>
      <p:pic>
        <p:nvPicPr>
          <p:cNvPr id="4" name="Image 0" descr="C:\AWT_PRATICAL\SmartSignDeck_Fresh\docs\images\use_case_advertis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Context Level (Level 0)</a:t>
            </a:r>
            <a:endParaRPr lang="en-US" sz="2000" dirty="0"/>
          </a:p>
        </p:txBody>
      </p:sp>
      <p:pic>
        <p:nvPicPr>
          <p:cNvPr id="4" name="Image 0" descr="C:\AWT_PRATICAL\SmartSignDeck_Fresh\docs\images\dfd_level_0_contex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Level 1 DFD: Super Admin</a:t>
            </a:r>
            <a:endParaRPr lang="en-US" sz="2000" dirty="0"/>
          </a:p>
        </p:txBody>
      </p:sp>
      <p:pic>
        <p:nvPicPr>
          <p:cNvPr id="4" name="Image 0" descr="C:\AWT_PRATICAL\SmartSignDeck_Fresh\docs\images\dfd_level_1_super_adm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66649"/>
            <a:ext cx="9144000" cy="36260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Level 1 DFD: Admin</a:t>
            </a:r>
            <a:endParaRPr lang="en-US" sz="2000" dirty="0"/>
          </a:p>
        </p:txBody>
      </p:sp>
      <p:pic>
        <p:nvPicPr>
          <p:cNvPr id="4" name="Image 0" descr="C:\AWT_PRATICAL\SmartSignDeck_Fresh\docs\images\dfd_level_1_adm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Level 1 DFD: User</a:t>
            </a:r>
            <a:endParaRPr lang="en-US" sz="2000" dirty="0"/>
          </a:p>
        </p:txBody>
      </p:sp>
      <p:pic>
        <p:nvPicPr>
          <p:cNvPr id="4" name="Image 0" descr="C:\AWT_PRATICAL\SmartSignDeck_Fresh\docs\images\dfd_level_1_us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Level 1 DFD: Advertiser</a:t>
            </a:r>
            <a:endParaRPr lang="en-US" sz="2000" dirty="0"/>
          </a:p>
        </p:txBody>
      </p:sp>
      <p:pic>
        <p:nvPicPr>
          <p:cNvPr id="4" name="Image 0" descr="C:\AWT_PRATICAL\SmartSignDeck_Fresh\docs\images\dfd_level_1_advertis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Level 2 DFD: Super Admin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3D00B0-083A-28B0-D4EB-236F14103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5477"/>
            <a:ext cx="9144000" cy="32882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73B05-C65E-EF24-2DC1-C54A99052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87EA7D-E5C7-2CA7-4B5B-2BDAFC62DFA2}"/>
              </a:ext>
            </a:extLst>
          </p:cNvPr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008C7CC-AA96-2B3C-2810-5FE2102168BF}"/>
              </a:ext>
            </a:extLst>
          </p:cNvPr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Level 2 DFD: Admin/Users</a:t>
            </a:r>
            <a:endParaRPr lang="en-US" sz="2000" dirty="0"/>
          </a:p>
        </p:txBody>
      </p:sp>
      <p:pic>
        <p:nvPicPr>
          <p:cNvPr id="4" name="Image 0" descr="C:\AWT_PRATICAL\SmartSignDeck_Fresh\docs\images\dfd_level_2_admin_users.png">
            <a:extLst>
              <a:ext uri="{FF2B5EF4-FFF2-40B4-BE49-F238E27FC236}">
                <a16:creationId xmlns:a16="http://schemas.microsoft.com/office/drawing/2014/main" id="{B5004CE6-1393-7450-8A96-B7077C6575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713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Level 2 DFD: User Canvas (Editor)</a:t>
            </a:r>
            <a:endParaRPr lang="en-US" sz="2000" dirty="0"/>
          </a:p>
        </p:txBody>
      </p:sp>
      <p:pic>
        <p:nvPicPr>
          <p:cNvPr id="4" name="Image 0" descr="C:\AWT_PRATICAL\SmartSignDeck_Fresh\docs\images\dfd_level_2_user_canva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Level 2 DFD: Advertiser</a:t>
            </a:r>
            <a:endParaRPr lang="en-US" sz="2000" dirty="0"/>
          </a:p>
        </p:txBody>
      </p:sp>
      <p:pic>
        <p:nvPicPr>
          <p:cNvPr id="4" name="Image 0" descr="C:\AWT_PRATICAL\SmartSignDeck_Fresh\docs\images\dfd_level_2_advertis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ER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Database Relationships (Super Admin View)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B270CD-ABDB-9F30-2A69-6AD5D93D1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5531"/>
            <a:ext cx="9144000" cy="37773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D8343-4290-5AE5-CB8D-908852893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0E8573E-6A89-7BB6-BA79-CFAEAAF88B39}"/>
              </a:ext>
            </a:extLst>
          </p:cNvPr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ER Diagram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DA00110-0843-3EA8-0467-B830EA79EA74}"/>
              </a:ext>
            </a:extLst>
          </p:cNvPr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Database Relationships (Admin/Owner View)</a:t>
            </a:r>
            <a:endParaRPr lang="en-US" sz="2000" dirty="0"/>
          </a:p>
        </p:txBody>
      </p:sp>
      <p:pic>
        <p:nvPicPr>
          <p:cNvPr id="4" name="Image 0" descr="C:\AWT_PRATICAL\SmartSignDeck_Fresh\docs\images\erd_admin_owner.png">
            <a:extLst>
              <a:ext uri="{FF2B5EF4-FFF2-40B4-BE49-F238E27FC236}">
                <a16:creationId xmlns:a16="http://schemas.microsoft.com/office/drawing/2014/main" id="{ED6B336C-24DA-C6BD-D6A1-20070794CC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0929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F0FE9-C52E-0BB8-445B-FA46B8192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C204930-C320-2929-D820-75EA8440DB75}"/>
              </a:ext>
            </a:extLst>
          </p:cNvPr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ER Diagram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4828176-1519-6715-D697-B58697ED5357}"/>
              </a:ext>
            </a:extLst>
          </p:cNvPr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Database Relationships (User View)</a:t>
            </a:r>
            <a:endParaRPr lang="en-US" sz="2000" dirty="0"/>
          </a:p>
        </p:txBody>
      </p:sp>
      <p:pic>
        <p:nvPicPr>
          <p:cNvPr id="4" name="Image 0" descr="C:\AWT_PRATICAL\SmartSignDeck_Fresh\docs\images\erd_admin_owner.png">
            <a:extLst>
              <a:ext uri="{FF2B5EF4-FFF2-40B4-BE49-F238E27FC236}">
                <a16:creationId xmlns:a16="http://schemas.microsoft.com/office/drawing/2014/main" id="{B623F31A-6F9D-833C-0EDE-17343254A4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035A01-5C5E-AB67-EBEC-DE5A6A61D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06" y="1371600"/>
            <a:ext cx="8246787" cy="347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0283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F4CD7-5461-2922-F68C-67B8656C1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30DC3E-1F4B-7424-AD79-F946317AD780}"/>
              </a:ext>
            </a:extLst>
          </p:cNvPr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ER Diagram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EA0BE47-6980-6A24-2A38-06D2EEF6ACA5}"/>
              </a:ext>
            </a:extLst>
          </p:cNvPr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Database Relationships (Advertiser View)</a:t>
            </a:r>
            <a:endParaRPr lang="en-US" sz="2000" dirty="0"/>
          </a:p>
        </p:txBody>
      </p:sp>
      <p:pic>
        <p:nvPicPr>
          <p:cNvPr id="4" name="Image 0" descr="C:\AWT_PRATICAL\SmartSignDeck_Fresh\docs\images\erd_admin_owner.png">
            <a:extLst>
              <a:ext uri="{FF2B5EF4-FFF2-40B4-BE49-F238E27FC236}">
                <a16:creationId xmlns:a16="http://schemas.microsoft.com/office/drawing/2014/main" id="{4D838D0D-5763-7A23-4C77-89131656CB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4AF8A7-572E-8758-B6EB-8FE4A5C47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8229600" cy="34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8984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Data Dictionary</a:t>
            </a:r>
            <a:endParaRPr lang="en-US" sz="3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Collection: users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Description: Store user profiles and roles.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18288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Full name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email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Unique email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Access level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Collection: screens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Description: Track hardware status.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18288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Label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macAddress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Unique ID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Online/Offline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System Screen Layouts</a:t>
            </a:r>
            <a:endParaRPr lang="en-US" sz="3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Landing Pages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LP\landing_her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Landing Pages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LP\landing_featur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Landing Pages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LP\landing_industries_detai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Landing Pages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LP\landing_news_sec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Landing Pages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LP\landing_foo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Login Screens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uthentication\Login\Admin Log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Login Screens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uthentication\Login\auth_error_invali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Login Screens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uthentication\Login\auth_error_empt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Login Screens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uthentication\Login\auth_error_parti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Login Screens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uthentication\Login\Google Aut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Registration Process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uthentication\Reg\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Registration Process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uthentication\Reg\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Registration Process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uthentication\Reg\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Registration Process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uthentication\Reg\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Registration Process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uthentication\Reg\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Registration Process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uthentication\Reg\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Template Builder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Templates\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Template Builder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Templates\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Template Builder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Templates\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Template Builder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Templates\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Template Builder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Templates\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Template Builder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Templates\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Template Builder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Templates\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Template Builder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Templates\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Template Builder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Templates\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Template Builder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Templates\1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034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041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043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050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053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055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070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072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075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104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112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114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132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141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170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174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181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183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190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Playlist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Playlist\Screenshot 2026-04-03 12211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Playlist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Playlist\Screenshot 2026-04-03 12224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Playlist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Playlist\Screenshot 2026-04-03 12231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Playlist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Playlist\Screenshot 2026-04-03 1223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Playlist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Playlist\Screenshot 2026-04-03 12240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Playlist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Playlist\Screenshot 2026-04-03 12245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Super Admin Console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uper Admin\Screenshot 2026-04-03 12410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Super Admin Console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uper Admin\Screenshot 2026-04-03 12420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Super Admin Console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uper Admin\Screenshot 2026-04-03 12425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Super Admin Console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uper Admin\Screenshot 2026-04-03 19215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Super Admin Console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uper Admin\Screenshot 2026-04-03 1927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Super Admin Console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uper Admin\Screenshot 2026-04-03 19280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Super Admin Console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uper Admin\Screenshot 2026-04-03 19282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Super Admin Console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uper Admin\Screenshot 2026-04-03 19290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Real-time Analytics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na\Screenshot 2026-04-03 12253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Real-time Analytics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na\Screenshot 2026-04-03 12255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Real-time Analytics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na\Screenshot 2026-04-03 12261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Real-time Analytics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na\Screenshot 2026-04-03 12263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System Generated Reports</a:t>
            </a:r>
            <a:endParaRPr lang="en-US" sz="38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Generated Report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analytics-screenshot-2026-03-28-2026-04-04</a:t>
            </a:r>
            <a:endParaRPr lang="en-US" sz="2000" dirty="0"/>
          </a:p>
        </p:txBody>
      </p:sp>
      <p:pic>
        <p:nvPicPr>
          <p:cNvPr id="4" name="Image 0" descr="C:\AWT_PRATICAL\SmartSignDeck_Fresh\Reports\analytics-screenshot-2026-03-28-2026-04-0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Generated Report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smartsigndeck-dashboard-2026-04-03</a:t>
            </a:r>
            <a:endParaRPr lang="en-US" sz="2000" dirty="0"/>
          </a:p>
        </p:txBody>
      </p:sp>
      <p:pic>
        <p:nvPicPr>
          <p:cNvPr id="4" name="Image 0" descr="C:\AWT_PRATICAL\SmartSignDeck_Fresh\Reports\smartsigndeck-dashboard-2026-04-0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Scope &amp; Limitations</a:t>
            </a:r>
            <a:endParaRPr lang="en-US" sz="26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6D3FE7F7-6C98-87F4-F6FB-24E93F210C8B}"/>
              </a:ext>
            </a:extLst>
          </p:cNvPr>
          <p:cNvSpPr/>
          <p:nvPr/>
        </p:nvSpPr>
        <p:spPr>
          <a:xfrm>
            <a:off x="518160" y="1066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Scope:</a:t>
            </a:r>
            <a:endParaRPr lang="en-US" sz="18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5E600D5C-7B9D-9DC4-38AF-6A50DA4F3C64}"/>
              </a:ext>
            </a:extLst>
          </p:cNvPr>
          <p:cNvSpPr/>
          <p:nvPr/>
        </p:nvSpPr>
        <p:spPr>
          <a:xfrm>
            <a:off x="365760" y="12801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The system is capable of pushing dynamic visual changes to unlimited displays connected globally.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Distinct access layers ensure users only control screens and media assigned to their workspace.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Audit logging provides administrators with a complete history of all content changes over time.</a:t>
            </a:r>
            <a:endParaRPr lang="en-US" sz="16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1AE529B-BDA5-789D-BFB5-6B5F58600CB0}"/>
              </a:ext>
            </a:extLst>
          </p:cNvPr>
          <p:cNvSpPr/>
          <p:nvPr/>
        </p:nvSpPr>
        <p:spPr>
          <a:xfrm>
            <a:off x="365760" y="2468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Limitations:</a:t>
            </a:r>
            <a:endParaRPr lang="en-US" sz="18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D135157B-9DF9-4115-2E94-F494EB0CD4E0}"/>
              </a:ext>
            </a:extLst>
          </p:cNvPr>
          <p:cNvSpPr/>
          <p:nvPr/>
        </p:nvSpPr>
        <p:spPr>
          <a:xfrm>
            <a:off x="365760" y="283464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Strict dependency on reliable internet access. Screens cannot render completely new updates if the connection drops entirely.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Timezone management is currently unified globally, lacking automatic local timezone logic for displays heavily relying on accurate local time.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Pushing raw uncompressed 4K video assets may induce buffering latency on low-end WiFi networks.</a:t>
            </a:r>
            <a:endParaRPr lang="en-US" sz="16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Future Expansion</a:t>
            </a:r>
            <a:endParaRPr lang="en-US" sz="26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CD380E9-3BF7-A686-0723-47F03C7CA5D0}"/>
              </a:ext>
            </a:extLst>
          </p:cNvPr>
          <p:cNvSpPr/>
          <p:nvPr/>
        </p:nvSpPr>
        <p:spPr>
          <a:xfrm>
            <a:off x="365760" y="1097280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1. Implement Offline Player Architecture: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Develop electron-based or native mobile applications to heavily cache templates offline for 100% uninterrupted looping when internet drops.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2. AI-Powered Templating: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Integrate Generative AI tools (e.g. OpenAI) to automatically auto-design marketing graphics based entirely on prompt keywords.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3. Audience Analytics: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Embed camera modules at display zones to capture demographic engagement metrics and view-duration statistics anonymously.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4. Ad-Tech Payment Gateways: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Allow external third-party advertisers to bid and rent out your unused screen timeslots and pay digitally via Stripe.</a:t>
            </a:r>
            <a:endParaRPr lang="en-US" sz="16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B4D8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4F6F9"/>
                </a:solidFill>
              </a:rPr>
              <a:t>Any 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1419</Words>
  <Application>Microsoft Office PowerPoint</Application>
  <PresentationFormat>On-screen Show (16:9)</PresentationFormat>
  <Paragraphs>400</Paragraphs>
  <Slides>98</Slides>
  <Notes>98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Technostacks Infotech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SmartSignDeck Presentation</dc:title>
  <dc:subject>SmartSignDeck Final Project Presentation</dc:subject>
  <dc:creator>Dhimant N. Pandya</dc:creator>
  <cp:lastModifiedBy>Dhimant pandya</cp:lastModifiedBy>
  <cp:revision>2</cp:revision>
  <dcterms:created xsi:type="dcterms:W3CDTF">2026-04-03T20:44:46Z</dcterms:created>
  <dcterms:modified xsi:type="dcterms:W3CDTF">2026-04-03T21:14:12Z</dcterms:modified>
</cp:coreProperties>
</file>