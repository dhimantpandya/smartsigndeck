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97" r:id="rId1"/>
  </p:sldMasterIdLst>
  <p:notesMasterIdLst>
    <p:notesMasterId r:id="rId57"/>
  </p:notesMasterIdLst>
  <p:sldIdLst>
    <p:sldId id="256" r:id="rId2"/>
    <p:sldId id="257" r:id="rId3"/>
    <p:sldId id="258" r:id="rId4"/>
    <p:sldId id="259" r:id="rId5"/>
    <p:sldId id="260" r:id="rId6"/>
    <p:sldId id="261" r:id="rId7"/>
    <p:sldId id="264" r:id="rId8"/>
    <p:sldId id="265" r:id="rId9"/>
    <p:sldId id="263" r:id="rId10"/>
    <p:sldId id="266" r:id="rId11"/>
    <p:sldId id="267" r:id="rId12"/>
    <p:sldId id="268" r:id="rId13"/>
    <p:sldId id="269" r:id="rId14"/>
    <p:sldId id="270" r:id="rId15"/>
    <p:sldId id="276" r:id="rId16"/>
    <p:sldId id="275"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3" r:id="rId33"/>
    <p:sldId id="292" r:id="rId34"/>
    <p:sldId id="294" r:id="rId35"/>
    <p:sldId id="295" r:id="rId36"/>
    <p:sldId id="296" r:id="rId37"/>
    <p:sldId id="297" r:id="rId38"/>
    <p:sldId id="298" r:id="rId39"/>
    <p:sldId id="299" r:id="rId40"/>
    <p:sldId id="300" r:id="rId41"/>
    <p:sldId id="301" r:id="rId42"/>
    <p:sldId id="302" r:id="rId43"/>
    <p:sldId id="303" r:id="rId44"/>
    <p:sldId id="305" r:id="rId45"/>
    <p:sldId id="304" r:id="rId46"/>
    <p:sldId id="306" r:id="rId47"/>
    <p:sldId id="307" r:id="rId48"/>
    <p:sldId id="308" r:id="rId49"/>
    <p:sldId id="309" r:id="rId50"/>
    <p:sldId id="310" r:id="rId51"/>
    <p:sldId id="311" r:id="rId52"/>
    <p:sldId id="312" r:id="rId53"/>
    <p:sldId id="271" r:id="rId54"/>
    <p:sldId id="272" r:id="rId55"/>
    <p:sldId id="273"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900C0"/>
    <a:srgbClr val="C577F1"/>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4" autoAdjust="0"/>
    <p:restoredTop sz="94660"/>
  </p:normalViewPr>
  <p:slideViewPr>
    <p:cSldViewPr snapToGrid="0">
      <p:cViewPr>
        <p:scale>
          <a:sx n="70" d="100"/>
          <a:sy n="70" d="100"/>
        </p:scale>
        <p:origin x="-456" y="-84"/>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33EBC3-A579-4C7A-B558-A726CC5E3A5C}" type="datetimeFigureOut">
              <a:rPr lang="en-US" smtClean="0"/>
              <a:pPr/>
              <a:t>06-Apr-17</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3E27DA2-765B-4793-AB96-CBFDEFE516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3E27DA2-765B-4793-AB96-CBFDEFE5163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3E27DA2-765B-4793-AB96-CBFDEFE5163A}"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A5D4DDD-128E-4E75-A35B-7BB001E9C344}" type="datetime1">
              <a:rPr lang="en-US" smtClean="0"/>
              <a:pPr/>
              <a:t>06-Apr-17</a:t>
            </a:fld>
            <a:endParaRPr lang="en-US" dirty="0"/>
          </a:p>
        </p:txBody>
      </p:sp>
      <p:sp>
        <p:nvSpPr>
          <p:cNvPr id="5" name="Footer Placeholder 4"/>
          <p:cNvSpPr>
            <a:spLocks noGrp="1"/>
          </p:cNvSpPr>
          <p:nvPr>
            <p:ph type="ftr" sz="quarter" idx="11"/>
          </p:nvPr>
        </p:nvSpPr>
        <p:spPr/>
        <p:txBody>
          <a:bodyPr/>
          <a:lstStyle/>
          <a:p>
            <a:r>
              <a:rPr lang="en-US" smtClean="0"/>
              <a:t>Leave Management System</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14D875D-B99B-45EB-90EC-C410084B1E0A}" type="datetime1">
              <a:rPr lang="en-US" smtClean="0"/>
              <a:pPr/>
              <a:t>06-Apr-17</a:t>
            </a:fld>
            <a:endParaRPr lang="en-US" dirty="0"/>
          </a:p>
        </p:txBody>
      </p:sp>
      <p:sp>
        <p:nvSpPr>
          <p:cNvPr id="5" name="Footer Placeholder 4"/>
          <p:cNvSpPr>
            <a:spLocks noGrp="1"/>
          </p:cNvSpPr>
          <p:nvPr>
            <p:ph type="ftr" sz="quarter" idx="11"/>
          </p:nvPr>
        </p:nvSpPr>
        <p:spPr/>
        <p:txBody>
          <a:bodyPr/>
          <a:lstStyle/>
          <a:p>
            <a:r>
              <a:rPr lang="en-US" smtClean="0"/>
              <a:t>Leave Management System</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14E3D01-3A12-49A0-A4EF-467DD25EB402}" type="datetime1">
              <a:rPr lang="en-US" smtClean="0"/>
              <a:pPr/>
              <a:t>06-Apr-17</a:t>
            </a:fld>
            <a:endParaRPr lang="en-US" dirty="0"/>
          </a:p>
        </p:txBody>
      </p:sp>
      <p:sp>
        <p:nvSpPr>
          <p:cNvPr id="5" name="Footer Placeholder 4"/>
          <p:cNvSpPr>
            <a:spLocks noGrp="1"/>
          </p:cNvSpPr>
          <p:nvPr>
            <p:ph type="ftr" sz="quarter" idx="11"/>
          </p:nvPr>
        </p:nvSpPr>
        <p:spPr/>
        <p:txBody>
          <a:bodyPr/>
          <a:lstStyle/>
          <a:p>
            <a:r>
              <a:rPr lang="en-US" smtClean="0"/>
              <a:t>Leave Management System</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BBC3591-10A8-4B3B-B7C0-7F08DDF17E7F}"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2A32880-066A-482A-A7EB-439E9282FBF2}" type="datetime1">
              <a:rPr lang="en-US" smtClean="0"/>
              <a:pPr/>
              <a:t>06-Apr-17</a:t>
            </a:fld>
            <a:endParaRPr lang="en-US" dirty="0"/>
          </a:p>
        </p:txBody>
      </p:sp>
      <p:sp>
        <p:nvSpPr>
          <p:cNvPr id="8" name="Footer Placeholder 7"/>
          <p:cNvSpPr>
            <a:spLocks noGrp="1"/>
          </p:cNvSpPr>
          <p:nvPr>
            <p:ph type="ftr" sz="quarter" idx="11"/>
          </p:nvPr>
        </p:nvSpPr>
        <p:spPr/>
        <p:txBody>
          <a:bodyPr/>
          <a:lstStyle/>
          <a:p>
            <a:r>
              <a:rPr lang="en-US" smtClean="0"/>
              <a:t>Leave Management System</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B0F3F9A-38CE-4984-BC0A-47B612AC6B4A}" type="datetime1">
              <a:rPr lang="en-US" smtClean="0"/>
              <a:pPr/>
              <a:t>06-Apr-17</a:t>
            </a:fld>
            <a:endParaRPr lang="en-US" dirty="0"/>
          </a:p>
        </p:txBody>
      </p:sp>
      <p:sp>
        <p:nvSpPr>
          <p:cNvPr id="4" name="Footer Placeholder 3"/>
          <p:cNvSpPr>
            <a:spLocks noGrp="1"/>
          </p:cNvSpPr>
          <p:nvPr>
            <p:ph type="ftr" sz="quarter" idx="11"/>
          </p:nvPr>
        </p:nvSpPr>
        <p:spPr/>
        <p:txBody>
          <a:bodyPr/>
          <a:lstStyle/>
          <a:p>
            <a:r>
              <a:rPr lang="en-US" smtClean="0"/>
              <a:t>Leave Management System</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8CC3F72-074C-403C-BE33-A8F87DB68680}" type="datetime1">
              <a:rPr lang="en-US" smtClean="0"/>
              <a:pPr/>
              <a:t>06-Apr-17</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smtClean="0"/>
              <a:t>Leave Management System</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5ACE06C-C962-49FA-8007-DD5EA1989DA9}" type="datetime1">
              <a:rPr lang="en-US" smtClean="0"/>
              <a:pPr/>
              <a:t>06-Apr-17</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accent3"/>
          </a:solid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12DE867-5621-4DDD-99ED-05E8BD8FAACF}" type="datetime1">
              <a:rPr lang="en-US" smtClean="0"/>
              <a:pPr/>
              <a:t>06-Apr-17</a:t>
            </a:fld>
            <a:endParaRPr lang="en-US" dirty="0"/>
          </a:p>
        </p:txBody>
      </p:sp>
      <p:sp>
        <p:nvSpPr>
          <p:cNvPr id="5" name="Footer Placeholder 4"/>
          <p:cNvSpPr>
            <a:spLocks noGrp="1"/>
          </p:cNvSpPr>
          <p:nvPr>
            <p:ph type="ftr" sz="quarter" idx="11"/>
          </p:nvPr>
        </p:nvSpPr>
        <p:spPr/>
        <p:txBody>
          <a:bodyPr/>
          <a:lstStyle/>
          <a:p>
            <a:r>
              <a:rPr lang="en-US" smtClean="0"/>
              <a:t>Leave Management System</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86602FE-D067-47A9-8AB1-C896C0B33B3D}" type="datetime1">
              <a:rPr lang="en-US" smtClean="0"/>
              <a:pPr/>
              <a:t>06-Apr-17</a:t>
            </a:fld>
            <a:endParaRPr lang="en-US" dirty="0"/>
          </a:p>
        </p:txBody>
      </p:sp>
      <p:sp>
        <p:nvSpPr>
          <p:cNvPr id="5" name="Footer Placeholder 4"/>
          <p:cNvSpPr>
            <a:spLocks noGrp="1"/>
          </p:cNvSpPr>
          <p:nvPr>
            <p:ph type="ftr" sz="quarter" idx="11"/>
          </p:nvPr>
        </p:nvSpPr>
        <p:spPr/>
        <p:txBody>
          <a:bodyPr/>
          <a:lstStyle/>
          <a:p>
            <a:r>
              <a:rPr lang="en-US" smtClean="0"/>
              <a:t>Leave Management System</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F4BCA21-9D87-4ED3-ABD5-6550A2688581}" type="datetime1">
              <a:rPr lang="en-US" smtClean="0"/>
              <a:pPr/>
              <a:t>06-Apr-17</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smtClean="0"/>
              <a:t>Leave Management System</a:t>
            </a:r>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4.xml"/><Relationship Id="rId13" Type="http://schemas.openxmlformats.org/officeDocument/2006/relationships/slide" Target="slide55.xml"/><Relationship Id="rId3" Type="http://schemas.openxmlformats.org/officeDocument/2006/relationships/slide" Target="slide3.xml"/><Relationship Id="rId7" Type="http://schemas.openxmlformats.org/officeDocument/2006/relationships/slide" Target="slide10.xml"/><Relationship Id="rId12" Type="http://schemas.openxmlformats.org/officeDocument/2006/relationships/slide" Target="slide5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7.xml"/><Relationship Id="rId11" Type="http://schemas.openxmlformats.org/officeDocument/2006/relationships/slide" Target="slide49.xml"/><Relationship Id="rId5" Type="http://schemas.openxmlformats.org/officeDocument/2006/relationships/slide" Target="slide6.xml"/><Relationship Id="rId15" Type="http://schemas.openxmlformats.org/officeDocument/2006/relationships/image" Target="../media/image3.png"/><Relationship Id="rId10" Type="http://schemas.openxmlformats.org/officeDocument/2006/relationships/slide" Target="slide32.xml"/><Relationship Id="rId4" Type="http://schemas.openxmlformats.org/officeDocument/2006/relationships/slide" Target="slide4.xml"/><Relationship Id="rId9" Type="http://schemas.openxmlformats.org/officeDocument/2006/relationships/slide" Target="slide15.xml"/><Relationship Id="rId1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FlowChart/employee_Flowchart_1_001.jpg" TargetMode="External"/><Relationship Id="rId1" Type="http://schemas.openxmlformats.org/officeDocument/2006/relationships/slideLayout" Target="../slideLayouts/slideLayout8.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slide" Target="slide2.xml"/></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5.png"/><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6.png"/><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7.png"/><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8.png"/><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9.png"/><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0.png"/><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1.jpeg"/><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2.png"/><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9.xml"/><Relationship Id="rId5" Type="http://schemas.openxmlformats.org/officeDocument/2006/relationships/image" Target="../media/image13.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9.xml"/><Relationship Id="rId5" Type="http://schemas.openxmlformats.org/officeDocument/2006/relationships/image" Target="../media/image1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5.png"/><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6.png"/><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7.png"/><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8.png"/><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9.png"/><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20.png"/><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21.png"/><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22.png"/><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23.png"/><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25.png"/><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26.png"/><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27.png"/><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28.jpeg"/><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29.jpeg"/><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30.jpeg"/><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3366654"/>
            <a:ext cx="10058400" cy="900545"/>
          </a:xfrm>
        </p:spPr>
        <p:txBody>
          <a:bodyPr>
            <a:normAutofit/>
          </a:bodyPr>
          <a:lstStyle/>
          <a:p>
            <a:r>
              <a:rPr lang="en-US" sz="6000" dirty="0" smtClean="0"/>
              <a:t>Leave Management System</a:t>
            </a:r>
            <a:endParaRPr lang="en-US" sz="6000" dirty="0"/>
          </a:p>
        </p:txBody>
      </p:sp>
      <p:sp>
        <p:nvSpPr>
          <p:cNvPr id="3" name="Subtitle 2"/>
          <p:cNvSpPr>
            <a:spLocks noGrp="1"/>
          </p:cNvSpPr>
          <p:nvPr>
            <p:ph type="subTitle" idx="1"/>
          </p:nvPr>
        </p:nvSpPr>
        <p:spPr>
          <a:xfrm>
            <a:off x="1100051" y="4350327"/>
            <a:ext cx="10058400" cy="2036618"/>
          </a:xfrm>
        </p:spPr>
        <p:txBody>
          <a:bodyPr numCol="2">
            <a:normAutofit/>
          </a:bodyPr>
          <a:lstStyle/>
          <a:p>
            <a:pPr algn="just">
              <a:lnSpc>
                <a:spcPct val="110000"/>
              </a:lnSpc>
              <a:spcBef>
                <a:spcPts val="0"/>
              </a:spcBef>
              <a:spcAft>
                <a:spcPts val="0"/>
              </a:spcAft>
            </a:pPr>
            <a:r>
              <a:rPr lang="en-US" dirty="0" smtClean="0"/>
              <a:t>Under Guidance OF:-</a:t>
            </a:r>
          </a:p>
          <a:p>
            <a:pPr algn="just">
              <a:lnSpc>
                <a:spcPct val="110000"/>
              </a:lnSpc>
              <a:spcBef>
                <a:spcPts val="0"/>
              </a:spcBef>
              <a:spcAft>
                <a:spcPts val="0"/>
              </a:spcAft>
            </a:pPr>
            <a:r>
              <a:rPr lang="en-US" sz="2200" u="sng" dirty="0" smtClean="0"/>
              <a:t>I</a:t>
            </a:r>
            <a:r>
              <a:rPr lang="en-US" sz="2200" u="sng" cap="none" dirty="0" smtClean="0"/>
              <a:t>nternal</a:t>
            </a:r>
            <a:r>
              <a:rPr lang="en-US" sz="2200" u="sng" dirty="0" smtClean="0"/>
              <a:t> G</a:t>
            </a:r>
            <a:r>
              <a:rPr lang="en-US" sz="2200" u="sng" cap="none" dirty="0" smtClean="0"/>
              <a:t>uide:-</a:t>
            </a:r>
            <a:endParaRPr lang="en-US" sz="2200" u="sng" dirty="0" smtClean="0"/>
          </a:p>
          <a:p>
            <a:pPr algn="just">
              <a:lnSpc>
                <a:spcPct val="110000"/>
              </a:lnSpc>
              <a:spcBef>
                <a:spcPts val="0"/>
              </a:spcBef>
              <a:spcAft>
                <a:spcPts val="0"/>
              </a:spcAft>
            </a:pPr>
            <a:r>
              <a:rPr lang="en-US" sz="2200" dirty="0" smtClean="0"/>
              <a:t>P</a:t>
            </a:r>
            <a:r>
              <a:rPr lang="en-US" sz="2200" cap="none" dirty="0" smtClean="0"/>
              <a:t>rof</a:t>
            </a:r>
            <a:r>
              <a:rPr lang="en-US" sz="2200" dirty="0" smtClean="0"/>
              <a:t>. K.u.a</a:t>
            </a:r>
            <a:r>
              <a:rPr lang="en-US" sz="2200" cap="none" dirty="0" smtClean="0"/>
              <a:t>charya</a:t>
            </a:r>
          </a:p>
          <a:p>
            <a:pPr algn="just">
              <a:lnSpc>
                <a:spcPct val="110000"/>
              </a:lnSpc>
              <a:spcBef>
                <a:spcPts val="0"/>
              </a:spcBef>
              <a:spcAft>
                <a:spcPts val="0"/>
              </a:spcAft>
            </a:pPr>
            <a:r>
              <a:rPr lang="en-US" sz="2200" u="sng" cap="none" dirty="0" smtClean="0"/>
              <a:t>External Guide:-</a:t>
            </a:r>
          </a:p>
          <a:p>
            <a:pPr algn="just">
              <a:lnSpc>
                <a:spcPct val="110000"/>
              </a:lnSpc>
              <a:spcBef>
                <a:spcPts val="0"/>
              </a:spcBef>
              <a:spcAft>
                <a:spcPts val="0"/>
              </a:spcAft>
            </a:pPr>
            <a:r>
              <a:rPr lang="en-US" sz="2200" cap="none" dirty="0" smtClean="0"/>
              <a:t>Ms. Manali Bhosale</a:t>
            </a:r>
          </a:p>
          <a:p>
            <a:r>
              <a:rPr lang="en-US" dirty="0" smtClean="0"/>
              <a:t>                         Presented By:-</a:t>
            </a:r>
          </a:p>
          <a:p>
            <a:pPr algn="r"/>
            <a:r>
              <a:rPr lang="en-US" dirty="0" err="1" smtClean="0"/>
              <a:t>Chirag</a:t>
            </a:r>
            <a:r>
              <a:rPr lang="en-US" dirty="0" smtClean="0"/>
              <a:t> </a:t>
            </a:r>
            <a:r>
              <a:rPr lang="en-US" dirty="0" err="1" smtClean="0"/>
              <a:t>prajapati</a:t>
            </a:r>
            <a:endParaRPr lang="en-US" dirty="0" smtClean="0"/>
          </a:p>
          <a:p>
            <a:pPr algn="r"/>
            <a:r>
              <a:rPr lang="en-US" dirty="0" smtClean="0"/>
              <a:t>(14B092)</a:t>
            </a:r>
            <a:endParaRPr lang="en-US" dirty="0"/>
          </a:p>
        </p:txBody>
      </p:sp>
      <p:pic>
        <p:nvPicPr>
          <p:cNvPr id="4" name="Picture 3" descr="DDU.jpg"/>
          <p:cNvPicPr>
            <a:picLocks noChangeAspect="1"/>
          </p:cNvPicPr>
          <p:nvPr/>
        </p:nvPicPr>
        <p:blipFill>
          <a:blip r:embed="rId3"/>
          <a:stretch>
            <a:fillRect/>
          </a:stretch>
        </p:blipFill>
        <p:spPr>
          <a:xfrm>
            <a:off x="1160472" y="472087"/>
            <a:ext cx="1147229" cy="858981"/>
          </a:xfrm>
          <a:prstGeom prst="rect">
            <a:avLst/>
          </a:prstGeom>
        </p:spPr>
      </p:pic>
      <p:sp>
        <p:nvSpPr>
          <p:cNvPr id="5" name="Title 1"/>
          <p:cNvSpPr txBox="1">
            <a:spLocks/>
          </p:cNvSpPr>
          <p:nvPr/>
        </p:nvSpPr>
        <p:spPr>
          <a:xfrm>
            <a:off x="2316480" y="484908"/>
            <a:ext cx="8836429" cy="942109"/>
          </a:xfrm>
          <a:prstGeom prst="rect">
            <a:avLst/>
          </a:prstGeom>
        </p:spPr>
        <p:txBody>
          <a:bodyPr vert="horz" lIns="91440" tIns="45720" rIns="91440" bIns="45720" rtlCol="0" anchor="b">
            <a:normAutofit fontScale="92500" lnSpcReduction="20000"/>
          </a:body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5400" b="0" i="0" u="none" strike="noStrike" kern="1200" cap="none" spc="-50" normalizeH="0" baseline="0" noProof="0" dirty="0" smtClean="0">
                <a:ln>
                  <a:noFill/>
                </a:ln>
                <a:solidFill>
                  <a:schemeClr val="tx1">
                    <a:lumMod val="85000"/>
                    <a:lumOff val="15000"/>
                  </a:schemeClr>
                </a:solidFill>
                <a:effectLst/>
                <a:uLnTx/>
                <a:uFillTx/>
                <a:latin typeface="+mj-lt"/>
                <a:ea typeface="+mj-ea"/>
                <a:cs typeface="+mj-cs"/>
              </a:rPr>
              <a:t>Dharamsinh Desai University</a:t>
            </a:r>
          </a:p>
          <a:p>
            <a:pPr marL="0" marR="0" lvl="0" indent="0" algn="l" defTabSz="914400" rtl="0" eaLnBrk="1" fontAlgn="auto" latinLnBrk="0" hangingPunct="1">
              <a:lnSpc>
                <a:spcPct val="85000"/>
              </a:lnSpc>
              <a:spcBef>
                <a:spcPct val="0"/>
              </a:spcBef>
              <a:spcAft>
                <a:spcPts val="0"/>
              </a:spcAft>
              <a:buClrTx/>
              <a:buSzTx/>
              <a:buFontTx/>
              <a:buNone/>
              <a:tabLst/>
              <a:defRPr/>
            </a:pPr>
            <a:r>
              <a:rPr lang="en-US" sz="3500" spc="-50" dirty="0" smtClean="0">
                <a:solidFill>
                  <a:schemeClr val="tx1">
                    <a:lumMod val="85000"/>
                    <a:lumOff val="15000"/>
                  </a:schemeClr>
                </a:solidFill>
                <a:latin typeface="+mj-lt"/>
                <a:ea typeface="+mj-ea"/>
                <a:cs typeface="+mj-cs"/>
              </a:rPr>
              <a:t> Faculty of Information Science (B.C.A)</a:t>
            </a:r>
            <a:endParaRPr kumimoji="0" lang="en-US" sz="3500" b="0" i="0" u="none" strike="noStrike" kern="1200" cap="none" spc="-50" normalizeH="0" baseline="0" noProof="0" dirty="0">
              <a:ln>
                <a:noFill/>
              </a:ln>
              <a:solidFill>
                <a:schemeClr val="tx1">
                  <a:lumMod val="85000"/>
                  <a:lumOff val="15000"/>
                </a:schemeClr>
              </a:solidFill>
              <a:effectLst/>
              <a:uLnTx/>
              <a:uFillTx/>
              <a:latin typeface="+mj-lt"/>
              <a:ea typeface="+mj-ea"/>
              <a:cs typeface="+mj-cs"/>
            </a:endParaRPr>
          </a:p>
        </p:txBody>
      </p:sp>
    </p:spTree>
    <p:extLst>
      <p:ext uri="{BB962C8B-B14F-4D97-AF65-F5344CB8AC3E}">
        <p14:creationId xmlns:p14="http://schemas.microsoft.com/office/powerpoint/2010/main" xmlns="" val="29293819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1097280" y="1845732"/>
            <a:ext cx="10058400" cy="4254817"/>
          </a:xfrm>
        </p:spPr>
        <p:txBody>
          <a:bodyPr>
            <a:normAutofit fontScale="62500" lnSpcReduction="20000"/>
          </a:bodyPr>
          <a:lstStyle/>
          <a:p>
            <a:pPr>
              <a:spcAft>
                <a:spcPts val="500"/>
              </a:spcAft>
              <a:buFont typeface="Wingdings" pitchFamily="2" charset="2"/>
              <a:buChar char="q"/>
            </a:pPr>
            <a:r>
              <a:rPr lang="en-US" sz="3500" dirty="0" smtClean="0">
                <a:solidFill>
                  <a:schemeClr val="accent1"/>
                </a:solidFill>
              </a:rPr>
              <a:t> </a:t>
            </a:r>
            <a:r>
              <a:rPr lang="en-US" sz="3500" dirty="0" smtClean="0">
                <a:solidFill>
                  <a:schemeClr val="tx1"/>
                </a:solidFill>
                <a:hlinkClick r:id="rId3" action="ppaction://hlinksldjump"/>
              </a:rPr>
              <a:t>About The System</a:t>
            </a:r>
            <a:endParaRPr lang="en-US" sz="3500" dirty="0" smtClean="0">
              <a:solidFill>
                <a:schemeClr val="tx1"/>
              </a:solidFill>
            </a:endParaRPr>
          </a:p>
          <a:p>
            <a:pPr>
              <a:spcBef>
                <a:spcPts val="500"/>
              </a:spcBef>
              <a:spcAft>
                <a:spcPts val="500"/>
              </a:spcAft>
              <a:buFont typeface="Wingdings" pitchFamily="2" charset="2"/>
              <a:buChar char="q"/>
            </a:pPr>
            <a:r>
              <a:rPr lang="en-US" sz="3500" dirty="0" smtClean="0">
                <a:solidFill>
                  <a:schemeClr val="accent1"/>
                </a:solidFill>
              </a:rPr>
              <a:t> </a:t>
            </a:r>
            <a:r>
              <a:rPr lang="en-US" sz="3500" dirty="0" smtClean="0">
                <a:solidFill>
                  <a:schemeClr val="tx1"/>
                </a:solidFill>
                <a:hlinkClick r:id="rId4" action="ppaction://hlinksldjump"/>
              </a:rPr>
              <a:t>Existing System</a:t>
            </a:r>
            <a:endParaRPr lang="en-US" sz="3500" dirty="0" smtClean="0">
              <a:solidFill>
                <a:schemeClr val="tx1"/>
              </a:solidFill>
            </a:endParaRPr>
          </a:p>
          <a:p>
            <a:pPr>
              <a:spcBef>
                <a:spcPts val="500"/>
              </a:spcBef>
              <a:spcAft>
                <a:spcPts val="500"/>
              </a:spcAft>
              <a:buFont typeface="Wingdings" pitchFamily="2" charset="2"/>
              <a:buChar char="q"/>
            </a:pPr>
            <a:r>
              <a:rPr lang="en-US" sz="3500" dirty="0" smtClean="0">
                <a:solidFill>
                  <a:schemeClr val="accent1"/>
                </a:solidFill>
              </a:rPr>
              <a:t> </a:t>
            </a:r>
            <a:r>
              <a:rPr lang="en-US" sz="3500" dirty="0" smtClean="0">
                <a:solidFill>
                  <a:schemeClr val="tx1"/>
                </a:solidFill>
                <a:hlinkClick r:id="rId5" action="ppaction://hlinksldjump"/>
              </a:rPr>
              <a:t>Proposed System</a:t>
            </a:r>
            <a:endParaRPr lang="en-US" sz="3500" dirty="0" smtClean="0">
              <a:solidFill>
                <a:schemeClr val="tx1"/>
              </a:solidFill>
            </a:endParaRPr>
          </a:p>
          <a:p>
            <a:pPr>
              <a:spcBef>
                <a:spcPts val="500"/>
              </a:spcBef>
              <a:spcAft>
                <a:spcPts val="500"/>
              </a:spcAft>
              <a:buFont typeface="Wingdings" pitchFamily="2" charset="2"/>
              <a:buChar char="q"/>
            </a:pPr>
            <a:r>
              <a:rPr lang="en-US" sz="3500" dirty="0" smtClean="0">
                <a:solidFill>
                  <a:schemeClr val="accent1"/>
                </a:solidFill>
              </a:rPr>
              <a:t> </a:t>
            </a:r>
            <a:r>
              <a:rPr lang="en-US" sz="3500" dirty="0" smtClean="0">
                <a:solidFill>
                  <a:schemeClr val="tx1"/>
                </a:solidFill>
                <a:hlinkClick r:id="rId6" action="ppaction://hlinksldjump"/>
              </a:rPr>
              <a:t>System Flow Chart</a:t>
            </a:r>
            <a:endParaRPr lang="en-US" sz="3500" dirty="0" smtClean="0">
              <a:solidFill>
                <a:schemeClr val="tx1"/>
              </a:solidFill>
            </a:endParaRPr>
          </a:p>
          <a:p>
            <a:pPr>
              <a:spcBef>
                <a:spcPts val="500"/>
              </a:spcBef>
              <a:spcAft>
                <a:spcPts val="500"/>
              </a:spcAft>
              <a:buFont typeface="Wingdings" pitchFamily="2" charset="2"/>
              <a:buChar char="q"/>
            </a:pPr>
            <a:r>
              <a:rPr lang="en-US" sz="3500" dirty="0" smtClean="0">
                <a:solidFill>
                  <a:schemeClr val="accent1"/>
                </a:solidFill>
              </a:rPr>
              <a:t> </a:t>
            </a:r>
            <a:r>
              <a:rPr lang="en-US" sz="3500" dirty="0" smtClean="0">
                <a:solidFill>
                  <a:schemeClr val="tx1"/>
                </a:solidFill>
                <a:hlinkClick r:id="rId7" action="ppaction://hlinksldjump"/>
              </a:rPr>
              <a:t>Data Flow Diagram</a:t>
            </a:r>
            <a:endParaRPr lang="en-US" sz="3500" dirty="0" smtClean="0">
              <a:solidFill>
                <a:schemeClr val="tx1"/>
              </a:solidFill>
            </a:endParaRPr>
          </a:p>
          <a:p>
            <a:pPr>
              <a:spcBef>
                <a:spcPts val="500"/>
              </a:spcBef>
              <a:spcAft>
                <a:spcPts val="500"/>
              </a:spcAft>
              <a:buFont typeface="Wingdings" pitchFamily="2" charset="2"/>
              <a:buChar char="q"/>
            </a:pPr>
            <a:r>
              <a:rPr lang="en-US" sz="3500" dirty="0" smtClean="0">
                <a:solidFill>
                  <a:schemeClr val="accent1"/>
                </a:solidFill>
              </a:rPr>
              <a:t> </a:t>
            </a:r>
            <a:r>
              <a:rPr lang="en-US" sz="3500" dirty="0" smtClean="0">
                <a:solidFill>
                  <a:schemeClr val="tx1"/>
                </a:solidFill>
                <a:hlinkClick r:id="rId8" action="ppaction://hlinksldjump"/>
              </a:rPr>
              <a:t>Entity Relationship Diagram</a:t>
            </a:r>
            <a:endParaRPr lang="en-US" sz="3500" dirty="0" smtClean="0">
              <a:solidFill>
                <a:schemeClr val="tx1"/>
              </a:solidFill>
            </a:endParaRPr>
          </a:p>
          <a:p>
            <a:pPr>
              <a:spcBef>
                <a:spcPts val="500"/>
              </a:spcBef>
              <a:spcAft>
                <a:spcPts val="500"/>
              </a:spcAft>
              <a:buFont typeface="Wingdings" pitchFamily="2" charset="2"/>
              <a:buChar char="q"/>
            </a:pPr>
            <a:r>
              <a:rPr lang="en-US" sz="3500" dirty="0" smtClean="0">
                <a:solidFill>
                  <a:schemeClr val="accent1"/>
                </a:solidFill>
              </a:rPr>
              <a:t> </a:t>
            </a:r>
            <a:r>
              <a:rPr lang="en-US" sz="3500" dirty="0" smtClean="0">
                <a:solidFill>
                  <a:schemeClr val="tx1"/>
                </a:solidFill>
                <a:hlinkClick r:id="rId9" action="ppaction://hlinksldjump"/>
              </a:rPr>
              <a:t>Data </a:t>
            </a:r>
            <a:r>
              <a:rPr lang="en-US" sz="3500" dirty="0" smtClean="0">
                <a:solidFill>
                  <a:schemeClr val="tx1"/>
                </a:solidFill>
                <a:hlinkClick r:id="rId9" action="ppaction://hlinksldjump"/>
              </a:rPr>
              <a:t>dictionaries</a:t>
            </a:r>
            <a:endParaRPr lang="en-US" sz="3500" dirty="0" smtClean="0">
              <a:solidFill>
                <a:schemeClr val="accent1"/>
              </a:solidFill>
            </a:endParaRPr>
          </a:p>
          <a:p>
            <a:pPr>
              <a:spcBef>
                <a:spcPts val="500"/>
              </a:spcBef>
              <a:spcAft>
                <a:spcPts val="500"/>
              </a:spcAft>
              <a:buFont typeface="Wingdings" pitchFamily="2" charset="2"/>
              <a:buChar char="q"/>
            </a:pPr>
            <a:r>
              <a:rPr lang="en-US" sz="3500" dirty="0" smtClean="0">
                <a:solidFill>
                  <a:schemeClr val="accent1"/>
                </a:solidFill>
              </a:rPr>
              <a:t> </a:t>
            </a:r>
            <a:r>
              <a:rPr lang="en-US" sz="3500" dirty="0" smtClean="0">
                <a:solidFill>
                  <a:schemeClr val="tx1"/>
                </a:solidFill>
                <a:hlinkClick r:id="rId10" action="ppaction://hlinksldjump"/>
              </a:rPr>
              <a:t>Screen Layout</a:t>
            </a:r>
            <a:endParaRPr lang="en-US" sz="3500" dirty="0" smtClean="0">
              <a:solidFill>
                <a:schemeClr val="tx1"/>
              </a:solidFill>
            </a:endParaRPr>
          </a:p>
          <a:p>
            <a:pPr>
              <a:spcBef>
                <a:spcPts val="500"/>
              </a:spcBef>
              <a:spcAft>
                <a:spcPts val="500"/>
              </a:spcAft>
              <a:buFont typeface="Wingdings" pitchFamily="2" charset="2"/>
              <a:buChar char="q"/>
            </a:pPr>
            <a:r>
              <a:rPr lang="en-US" sz="3500" dirty="0" smtClean="0">
                <a:solidFill>
                  <a:schemeClr val="accent1"/>
                </a:solidFill>
              </a:rPr>
              <a:t> </a:t>
            </a:r>
            <a:r>
              <a:rPr lang="en-US" sz="3500" dirty="0" smtClean="0">
                <a:solidFill>
                  <a:schemeClr val="tx1"/>
                </a:solidFill>
                <a:hlinkClick r:id="rId11" action="ppaction://hlinksldjump"/>
              </a:rPr>
              <a:t>System Generated Reports</a:t>
            </a:r>
            <a:endParaRPr lang="en-US" sz="3500" dirty="0" smtClean="0">
              <a:solidFill>
                <a:schemeClr val="accent1"/>
              </a:solidFill>
            </a:endParaRPr>
          </a:p>
          <a:p>
            <a:pPr>
              <a:spcBef>
                <a:spcPts val="500"/>
              </a:spcBef>
              <a:spcAft>
                <a:spcPts val="500"/>
              </a:spcAft>
              <a:buFont typeface="Wingdings" pitchFamily="2" charset="2"/>
              <a:buChar char="q"/>
            </a:pPr>
            <a:r>
              <a:rPr lang="en-US" sz="3500" dirty="0" smtClean="0">
                <a:solidFill>
                  <a:schemeClr val="accent1"/>
                </a:solidFill>
              </a:rPr>
              <a:t> </a:t>
            </a:r>
            <a:r>
              <a:rPr lang="en-US" sz="3500" dirty="0" smtClean="0">
                <a:solidFill>
                  <a:schemeClr val="tx1"/>
                </a:solidFill>
                <a:hlinkClick r:id="rId12" action="ppaction://hlinksldjump"/>
              </a:rPr>
              <a:t>Scope </a:t>
            </a:r>
            <a:r>
              <a:rPr lang="en-US" sz="3500" dirty="0" smtClean="0">
                <a:solidFill>
                  <a:schemeClr val="tx1"/>
                </a:solidFill>
                <a:hlinkClick r:id="rId12" action="ppaction://hlinksldjump"/>
              </a:rPr>
              <a:t>&amp; Limitation</a:t>
            </a:r>
            <a:endParaRPr lang="en-US" sz="3500" dirty="0" smtClean="0">
              <a:solidFill>
                <a:schemeClr val="tx1"/>
              </a:solidFill>
            </a:endParaRPr>
          </a:p>
          <a:p>
            <a:pPr>
              <a:spcBef>
                <a:spcPts val="500"/>
              </a:spcBef>
              <a:spcAft>
                <a:spcPts val="500"/>
              </a:spcAft>
              <a:buFont typeface="Wingdings" pitchFamily="2" charset="2"/>
              <a:buChar char="q"/>
            </a:pPr>
            <a:r>
              <a:rPr lang="en-US" sz="3500" dirty="0" smtClean="0">
                <a:solidFill>
                  <a:schemeClr val="accent1"/>
                </a:solidFill>
              </a:rPr>
              <a:t> </a:t>
            </a:r>
            <a:r>
              <a:rPr lang="en-US" sz="3500" dirty="0" smtClean="0">
                <a:solidFill>
                  <a:schemeClr val="tx1"/>
                </a:solidFill>
                <a:hlinkClick r:id="rId13" action="ppaction://hlinksldjump"/>
              </a:rPr>
              <a:t>Future Expansion </a:t>
            </a:r>
            <a:endParaRPr lang="en-US" sz="3500" dirty="0" smtClean="0">
              <a:solidFill>
                <a:schemeClr val="tx1"/>
              </a:solidFill>
            </a:endParaRPr>
          </a:p>
          <a:p>
            <a:pPr>
              <a:buFont typeface="Wingdings" pitchFamily="2" charset="2"/>
              <a:buChar char="q"/>
            </a:pPr>
            <a:endParaRPr lang="en-US" sz="2400" dirty="0" smtClean="0">
              <a:solidFill>
                <a:schemeClr val="tx1"/>
              </a:solidFill>
            </a:endParaRPr>
          </a:p>
          <a:p>
            <a:pPr>
              <a:buFont typeface="Wingdings" pitchFamily="2" charset="2"/>
              <a:buChar char="q"/>
            </a:pPr>
            <a:endParaRPr lang="en-US" sz="2400" dirty="0">
              <a:solidFill>
                <a:schemeClr val="accent1"/>
              </a:solidFill>
            </a:endParaRPr>
          </a:p>
        </p:txBody>
      </p:sp>
      <p:pic>
        <p:nvPicPr>
          <p:cNvPr id="14" name="Picture 13" descr="LMS_Social_Media_Icon__Twitter_.png"/>
          <p:cNvPicPr>
            <a:picLocks noChangeAspect="1"/>
          </p:cNvPicPr>
          <p:nvPr/>
        </p:nvPicPr>
        <p:blipFill>
          <a:blip r:embed="rId14">
            <a:duotone>
              <a:schemeClr val="accent6">
                <a:shade val="45000"/>
                <a:satMod val="135000"/>
              </a:schemeClr>
              <a:prstClr val="white"/>
            </a:duotone>
          </a:blip>
          <a:stretch>
            <a:fillRect/>
          </a:stretch>
        </p:blipFill>
        <p:spPr>
          <a:xfrm>
            <a:off x="11336675" y="5664634"/>
            <a:ext cx="677903" cy="631995"/>
          </a:xfrm>
          <a:prstGeom prst="rect">
            <a:avLst/>
          </a:prstGeom>
        </p:spPr>
      </p:pic>
      <p:pic>
        <p:nvPicPr>
          <p:cNvPr id="15" name="Picture 14" descr="lms-home-247-icon.png"/>
          <p:cNvPicPr>
            <a:picLocks noChangeAspect="1"/>
          </p:cNvPicPr>
          <p:nvPr/>
        </p:nvPicPr>
        <p:blipFill>
          <a:blip r:embed="rId15">
            <a:duotone>
              <a:schemeClr val="accent6">
                <a:shade val="45000"/>
                <a:satMod val="135000"/>
              </a:schemeClr>
              <a:prstClr val="white"/>
            </a:duotone>
          </a:blip>
          <a:stretch>
            <a:fillRect/>
          </a:stretch>
        </p:blipFill>
        <p:spPr>
          <a:xfrm>
            <a:off x="10991451" y="5841242"/>
            <a:ext cx="298569" cy="476440"/>
          </a:xfrm>
          <a:prstGeom prst="rect">
            <a:avLst/>
          </a:prstGeom>
        </p:spPr>
      </p:pic>
      <p:sp>
        <p:nvSpPr>
          <p:cNvPr id="16" name="Date Placeholder 15"/>
          <p:cNvSpPr>
            <a:spLocks noGrp="1"/>
          </p:cNvSpPr>
          <p:nvPr>
            <p:ph type="dt" sz="half" idx="10"/>
          </p:nvPr>
        </p:nvSpPr>
        <p:spPr/>
        <p:txBody>
          <a:bodyPr/>
          <a:lstStyle/>
          <a:p>
            <a:fld id="{2A3546D1-3669-4615-82CA-CDCF611E9740}" type="datetime1">
              <a:rPr lang="en-US" smtClean="0"/>
              <a:pPr/>
              <a:t>06-Apr-17</a:t>
            </a:fld>
            <a:endParaRPr lang="en-US" dirty="0"/>
          </a:p>
        </p:txBody>
      </p:sp>
      <p:sp>
        <p:nvSpPr>
          <p:cNvPr id="17" name="Slide Number Placeholder 16"/>
          <p:cNvSpPr>
            <a:spLocks noGrp="1"/>
          </p:cNvSpPr>
          <p:nvPr>
            <p:ph type="sldNum" sz="quarter" idx="12"/>
          </p:nvPr>
        </p:nvSpPr>
        <p:spPr/>
        <p:txBody>
          <a:bodyPr/>
          <a:lstStyle/>
          <a:p>
            <a:fld id="{6113E31D-E2AB-40D1-8B51-AFA5AFEF393A}" type="slidenum">
              <a:rPr lang="en-US" smtClean="0"/>
              <a:pPr/>
              <a:t>2</a:t>
            </a:fld>
            <a:endParaRPr lang="en-US" dirty="0"/>
          </a:p>
        </p:txBody>
      </p:sp>
      <p:sp>
        <p:nvSpPr>
          <p:cNvPr id="18" name="Footer Placeholder 17"/>
          <p:cNvSpPr>
            <a:spLocks noGrp="1"/>
          </p:cNvSpPr>
          <p:nvPr>
            <p:ph type="ftr" sz="quarter" idx="11"/>
          </p:nvPr>
        </p:nvSpPr>
        <p:spPr/>
        <p:txBody>
          <a:bodyPr/>
          <a:lstStyle/>
          <a:p>
            <a:r>
              <a:rPr lang="en-US" smtClean="0"/>
              <a:t>Leave Management System</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About The System</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q"/>
            </a:pPr>
            <a:r>
              <a:rPr lang="en-US" sz="2200" dirty="0" smtClean="0">
                <a:solidFill>
                  <a:schemeClr val="accent1"/>
                </a:solidFill>
              </a:rPr>
              <a:t> </a:t>
            </a:r>
            <a:r>
              <a:rPr lang="en-US" sz="2200" dirty="0" smtClean="0"/>
              <a:t>The Leave Management System is a Web Based Application that can be used over internet.</a:t>
            </a:r>
          </a:p>
          <a:p>
            <a:pPr>
              <a:buFont typeface="Wingdings" pitchFamily="2" charset="2"/>
              <a:buChar char="q"/>
            </a:pPr>
            <a:r>
              <a:rPr lang="en-US" sz="2200" dirty="0" smtClean="0">
                <a:solidFill>
                  <a:schemeClr val="accent1"/>
                </a:solidFill>
              </a:rPr>
              <a:t> </a:t>
            </a:r>
            <a:r>
              <a:rPr lang="en-US" sz="2200" dirty="0" smtClean="0"/>
              <a:t>It is Standardizes a process for Organization as per Requirements.</a:t>
            </a:r>
          </a:p>
          <a:p>
            <a:pPr>
              <a:buFont typeface="Wingdings" pitchFamily="2" charset="2"/>
              <a:buChar char="q"/>
            </a:pPr>
            <a:r>
              <a:rPr lang="en-US" sz="2200" dirty="0" smtClean="0">
                <a:solidFill>
                  <a:schemeClr val="accent1"/>
                </a:solidFill>
              </a:rPr>
              <a:t> </a:t>
            </a:r>
            <a:r>
              <a:rPr lang="en-US" sz="2200" dirty="0" smtClean="0"/>
              <a:t>It uses the standard leave process of apply and approve leave request.</a:t>
            </a:r>
          </a:p>
          <a:p>
            <a:pPr>
              <a:buFont typeface="Wingdings" pitchFamily="2" charset="2"/>
              <a:buChar char="q"/>
            </a:pPr>
            <a:r>
              <a:rPr lang="en-US" sz="2200" dirty="0" smtClean="0">
                <a:solidFill>
                  <a:schemeClr val="accent1"/>
                </a:solidFill>
              </a:rPr>
              <a:t> </a:t>
            </a:r>
            <a:r>
              <a:rPr lang="en-US" sz="2200" dirty="0" smtClean="0"/>
              <a:t>In this system employee can apply leave and see their leave balance.</a:t>
            </a:r>
          </a:p>
          <a:p>
            <a:pPr>
              <a:buFont typeface="Wingdings" pitchFamily="2" charset="2"/>
              <a:buChar char="q"/>
            </a:pPr>
            <a:r>
              <a:rPr lang="en-US" sz="2200" dirty="0" smtClean="0">
                <a:solidFill>
                  <a:schemeClr val="accent1"/>
                </a:solidFill>
              </a:rPr>
              <a:t> </a:t>
            </a:r>
            <a:r>
              <a:rPr lang="en-US" sz="2200" dirty="0" smtClean="0"/>
              <a:t>Manager can approve or reject leave.</a:t>
            </a:r>
          </a:p>
          <a:p>
            <a:pPr>
              <a:buFont typeface="Wingdings" pitchFamily="2" charset="2"/>
              <a:buChar char="q"/>
            </a:pPr>
            <a:r>
              <a:rPr lang="en-US" sz="2200" dirty="0" smtClean="0">
                <a:solidFill>
                  <a:schemeClr val="accent1"/>
                </a:solidFill>
              </a:rPr>
              <a:t> </a:t>
            </a:r>
            <a:r>
              <a:rPr lang="en-US" sz="2200" dirty="0" smtClean="0"/>
              <a:t>Admin can export required report for employees payroll, and manage system to maintain    company policy.</a:t>
            </a:r>
          </a:p>
          <a:p>
            <a:pPr>
              <a:buFont typeface="Wingdings" pitchFamily="2" charset="2"/>
              <a:buChar char="q"/>
            </a:pPr>
            <a:r>
              <a:rPr lang="en-US" sz="2200" dirty="0" smtClean="0">
                <a:solidFill>
                  <a:schemeClr val="accent1"/>
                </a:solidFill>
              </a:rPr>
              <a:t> </a:t>
            </a:r>
            <a:r>
              <a:rPr lang="en-US" sz="2200" dirty="0" smtClean="0"/>
              <a:t>In this system also provided some features like, leave summary chart, historical leave, employee upcoming birthday notification, email notification, etc…</a:t>
            </a:r>
          </a:p>
          <a:p>
            <a:endParaRPr lang="en-US" dirty="0" smtClean="0"/>
          </a:p>
        </p:txBody>
      </p:sp>
      <p:pic>
        <p:nvPicPr>
          <p:cNvPr id="6" name="Picture 5"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336675" y="5664634"/>
            <a:ext cx="677903" cy="631995"/>
          </a:xfrm>
          <a:prstGeom prst="rect">
            <a:avLst/>
          </a:prstGeom>
        </p:spPr>
      </p:pic>
      <p:pic>
        <p:nvPicPr>
          <p:cNvPr id="7" name="Picture 6" descr="lms-home-247-icon.png"/>
          <p:cNvPicPr>
            <a:picLocks noChangeAspect="1"/>
          </p:cNvPicPr>
          <p:nvPr/>
        </p:nvPicPr>
        <p:blipFill>
          <a:blip r:embed="rId4">
            <a:duotone>
              <a:schemeClr val="accent6">
                <a:shade val="45000"/>
                <a:satMod val="135000"/>
              </a:schemeClr>
              <a:prstClr val="white"/>
            </a:duotone>
          </a:blip>
          <a:stretch>
            <a:fillRect/>
          </a:stretch>
        </p:blipFill>
        <p:spPr>
          <a:xfrm>
            <a:off x="10991451" y="5841242"/>
            <a:ext cx="298569" cy="476440"/>
          </a:xfrm>
          <a:prstGeom prst="rect">
            <a:avLst/>
          </a:prstGeom>
        </p:spPr>
      </p:pic>
      <p:sp>
        <p:nvSpPr>
          <p:cNvPr id="8" name="Date Placeholder 7"/>
          <p:cNvSpPr>
            <a:spLocks noGrp="1"/>
          </p:cNvSpPr>
          <p:nvPr>
            <p:ph type="dt" sz="half" idx="10"/>
          </p:nvPr>
        </p:nvSpPr>
        <p:spPr/>
        <p:txBody>
          <a:bodyPr/>
          <a:lstStyle/>
          <a:p>
            <a:fld id="{4CE8BFF1-C247-4137-8A1E-AFEBA8B3B15F}" type="datetime1">
              <a:rPr lang="en-US" smtClean="0"/>
              <a:pPr/>
              <a:t>06-Apr-17</a:t>
            </a:fld>
            <a:endParaRPr lang="en-US" dirty="0"/>
          </a:p>
        </p:txBody>
      </p:sp>
      <p:sp>
        <p:nvSpPr>
          <p:cNvPr id="9" name="Slide Number Placeholder 8"/>
          <p:cNvSpPr>
            <a:spLocks noGrp="1"/>
          </p:cNvSpPr>
          <p:nvPr>
            <p:ph type="sldNum" sz="quarter" idx="12"/>
          </p:nvPr>
        </p:nvSpPr>
        <p:spPr/>
        <p:txBody>
          <a:bodyPr/>
          <a:lstStyle/>
          <a:p>
            <a:fld id="{6113E31D-E2AB-40D1-8B51-AFA5AFEF393A}" type="slidenum">
              <a:rPr lang="en-US" smtClean="0"/>
              <a:pPr/>
              <a:t>3</a:t>
            </a:fld>
            <a:endParaRPr lang="en-US" dirty="0"/>
          </a:p>
        </p:txBody>
      </p:sp>
      <p:sp>
        <p:nvSpPr>
          <p:cNvPr id="10" name="Footer Placeholder 9"/>
          <p:cNvSpPr>
            <a:spLocks noGrp="1"/>
          </p:cNvSpPr>
          <p:nvPr>
            <p:ph type="ftr" sz="quarter" idx="11"/>
          </p:nvPr>
        </p:nvSpPr>
        <p:spPr/>
        <p:txBody>
          <a:bodyPr/>
          <a:lstStyle/>
          <a:p>
            <a:r>
              <a:rPr lang="en-US" smtClean="0"/>
              <a:t>Leave Management System</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Existing System</a:t>
            </a:r>
            <a:endParaRPr lang="en-US" dirty="0"/>
          </a:p>
        </p:txBody>
      </p:sp>
      <p:sp>
        <p:nvSpPr>
          <p:cNvPr id="3" name="Content Placeholder 2"/>
          <p:cNvSpPr>
            <a:spLocks noGrp="1"/>
          </p:cNvSpPr>
          <p:nvPr>
            <p:ph idx="1"/>
          </p:nvPr>
        </p:nvSpPr>
        <p:spPr/>
        <p:txBody>
          <a:bodyPr/>
          <a:lstStyle/>
          <a:p>
            <a:pPr>
              <a:lnSpc>
                <a:spcPct val="100000"/>
              </a:lnSpc>
              <a:buFont typeface="Wingdings" pitchFamily="2" charset="2"/>
              <a:buChar char="q"/>
            </a:pPr>
            <a:r>
              <a:rPr lang="en-US" sz="2200" dirty="0" smtClean="0">
                <a:solidFill>
                  <a:schemeClr val="accent1"/>
                </a:solidFill>
              </a:rPr>
              <a:t> </a:t>
            </a:r>
            <a:r>
              <a:rPr lang="en-US" sz="2200" dirty="0" smtClean="0"/>
              <a:t>Right now whenever Company employee willing to take leave, he/she sends an email to manager and CC human resource team.</a:t>
            </a:r>
          </a:p>
          <a:p>
            <a:pPr>
              <a:lnSpc>
                <a:spcPct val="100000"/>
              </a:lnSpc>
              <a:buFont typeface="Wingdings" pitchFamily="2" charset="2"/>
              <a:buChar char="q"/>
            </a:pPr>
            <a:r>
              <a:rPr lang="en-US" sz="2200" dirty="0" smtClean="0">
                <a:solidFill>
                  <a:schemeClr val="accent1"/>
                </a:solidFill>
              </a:rPr>
              <a:t> </a:t>
            </a:r>
            <a:r>
              <a:rPr lang="en-US" sz="2200" dirty="0" smtClean="0"/>
              <a:t>Managers approve or cancel the leave by replying to email.</a:t>
            </a:r>
          </a:p>
          <a:p>
            <a:pPr>
              <a:lnSpc>
                <a:spcPct val="100000"/>
              </a:lnSpc>
              <a:buFont typeface="Wingdings" pitchFamily="2" charset="2"/>
              <a:buChar char="q"/>
            </a:pPr>
            <a:r>
              <a:rPr lang="en-US" sz="2200" dirty="0" smtClean="0">
                <a:solidFill>
                  <a:schemeClr val="accent1"/>
                </a:solidFill>
              </a:rPr>
              <a:t> </a:t>
            </a:r>
            <a:r>
              <a:rPr lang="en-US" sz="2200" dirty="0" smtClean="0"/>
              <a:t>Human resource team manages an excel sheet in which employee leave is marked and updated balanced provided to employee over email.</a:t>
            </a:r>
          </a:p>
          <a:p>
            <a:endParaRPr lang="en-US" dirty="0"/>
          </a:p>
        </p:txBody>
      </p:sp>
      <p:pic>
        <p:nvPicPr>
          <p:cNvPr id="4" name="Picture 3"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336675" y="5664634"/>
            <a:ext cx="677903" cy="631995"/>
          </a:xfrm>
          <a:prstGeom prst="rect">
            <a:avLst/>
          </a:prstGeom>
        </p:spPr>
      </p:pic>
      <p:pic>
        <p:nvPicPr>
          <p:cNvPr id="5" name="Picture 4" descr="lms-home-247-icon.png"/>
          <p:cNvPicPr>
            <a:picLocks noChangeAspect="1"/>
          </p:cNvPicPr>
          <p:nvPr/>
        </p:nvPicPr>
        <p:blipFill>
          <a:blip r:embed="rId4">
            <a:duotone>
              <a:schemeClr val="accent6">
                <a:shade val="45000"/>
                <a:satMod val="135000"/>
              </a:schemeClr>
              <a:prstClr val="white"/>
            </a:duotone>
          </a:blip>
          <a:stretch>
            <a:fillRect/>
          </a:stretch>
        </p:blipFill>
        <p:spPr>
          <a:xfrm>
            <a:off x="10991451" y="5841242"/>
            <a:ext cx="298569" cy="476440"/>
          </a:xfrm>
          <a:prstGeom prst="rect">
            <a:avLst/>
          </a:prstGeom>
        </p:spPr>
      </p:pic>
      <p:sp>
        <p:nvSpPr>
          <p:cNvPr id="6" name="Date Placeholder 5"/>
          <p:cNvSpPr>
            <a:spLocks noGrp="1"/>
          </p:cNvSpPr>
          <p:nvPr>
            <p:ph type="dt" sz="half" idx="10"/>
          </p:nvPr>
        </p:nvSpPr>
        <p:spPr/>
        <p:txBody>
          <a:bodyPr/>
          <a:lstStyle/>
          <a:p>
            <a:fld id="{8C4B0C51-4C84-4D6D-991F-8E56C81E5767}" type="datetime1">
              <a:rPr lang="en-US" smtClean="0"/>
              <a:pPr/>
              <a:t>06-Apr-17</a:t>
            </a:fld>
            <a:endParaRPr lang="en-US" dirty="0"/>
          </a:p>
        </p:txBody>
      </p:sp>
      <p:sp>
        <p:nvSpPr>
          <p:cNvPr id="7" name="Slide Number Placeholder 6"/>
          <p:cNvSpPr>
            <a:spLocks noGrp="1"/>
          </p:cNvSpPr>
          <p:nvPr>
            <p:ph type="sldNum" sz="quarter" idx="12"/>
          </p:nvPr>
        </p:nvSpPr>
        <p:spPr/>
        <p:txBody>
          <a:bodyPr/>
          <a:lstStyle/>
          <a:p>
            <a:fld id="{6113E31D-E2AB-40D1-8B51-AFA5AFEF393A}" type="slidenum">
              <a:rPr lang="en-US" smtClean="0"/>
              <a:pPr/>
              <a:t>4</a:t>
            </a:fld>
            <a:endParaRPr lang="en-US" dirty="0"/>
          </a:p>
        </p:txBody>
      </p:sp>
      <p:sp>
        <p:nvSpPr>
          <p:cNvPr id="8" name="Footer Placeholder 7"/>
          <p:cNvSpPr>
            <a:spLocks noGrp="1"/>
          </p:cNvSpPr>
          <p:nvPr>
            <p:ph type="ftr" sz="quarter" idx="11"/>
          </p:nvPr>
        </p:nvSpPr>
        <p:spPr/>
        <p:txBody>
          <a:bodyPr/>
          <a:lstStyle/>
          <a:p>
            <a:r>
              <a:rPr lang="en-US" smtClean="0"/>
              <a:t>Leave Management System</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Existing System Cont…</a:t>
            </a:r>
            <a:endParaRPr lang="en-US" dirty="0"/>
          </a:p>
        </p:txBody>
      </p:sp>
      <p:sp>
        <p:nvSpPr>
          <p:cNvPr id="3" name="Content Placeholder 2"/>
          <p:cNvSpPr>
            <a:spLocks noGrp="1"/>
          </p:cNvSpPr>
          <p:nvPr>
            <p:ph idx="1"/>
          </p:nvPr>
        </p:nvSpPr>
        <p:spPr/>
        <p:txBody>
          <a:bodyPr>
            <a:normAutofit/>
          </a:bodyPr>
          <a:lstStyle/>
          <a:p>
            <a:r>
              <a:rPr lang="en-US" sz="2400" u="sng" dirty="0" smtClean="0"/>
              <a:t>Drawbacks:-</a:t>
            </a:r>
            <a:endParaRPr lang="en-US" sz="2200" dirty="0" smtClean="0"/>
          </a:p>
          <a:p>
            <a:pPr lvl="0">
              <a:buFont typeface="Wingdings" pitchFamily="2" charset="2"/>
              <a:buChar char="Ø"/>
            </a:pPr>
            <a:r>
              <a:rPr lang="en-US" sz="2200" dirty="0" smtClean="0">
                <a:solidFill>
                  <a:srgbClr val="2900C0"/>
                </a:solidFill>
              </a:rPr>
              <a:t> </a:t>
            </a:r>
            <a:r>
              <a:rPr lang="en-US" sz="2200" dirty="0" smtClean="0"/>
              <a:t>Time Consuming.</a:t>
            </a:r>
          </a:p>
          <a:p>
            <a:pPr lvl="0">
              <a:buFont typeface="Wingdings" pitchFamily="2" charset="2"/>
              <a:buChar char="Ø"/>
            </a:pPr>
            <a:r>
              <a:rPr lang="en-US" sz="2200" dirty="0" smtClean="0">
                <a:solidFill>
                  <a:srgbClr val="2900C0"/>
                </a:solidFill>
              </a:rPr>
              <a:t> </a:t>
            </a:r>
            <a:r>
              <a:rPr lang="en-US" sz="2200" dirty="0" smtClean="0"/>
              <a:t>It difficult to maintain user leave record.</a:t>
            </a:r>
            <a:endParaRPr lang="en-US" sz="2200" dirty="0" smtClean="0">
              <a:solidFill>
                <a:srgbClr val="2900C0"/>
              </a:solidFill>
            </a:endParaRPr>
          </a:p>
          <a:p>
            <a:pPr lvl="0">
              <a:buFont typeface="Wingdings" pitchFamily="2" charset="2"/>
              <a:buChar char="Ø"/>
            </a:pPr>
            <a:r>
              <a:rPr lang="en-US" sz="2200" dirty="0" smtClean="0">
                <a:solidFill>
                  <a:srgbClr val="2900C0"/>
                </a:solidFill>
              </a:rPr>
              <a:t> </a:t>
            </a:r>
            <a:r>
              <a:rPr lang="en-US" sz="2200" dirty="0" smtClean="0"/>
              <a:t>User need manual calculation for available leave balance.</a:t>
            </a:r>
          </a:p>
          <a:p>
            <a:pPr lvl="0">
              <a:buFont typeface="Wingdings" pitchFamily="2" charset="2"/>
              <a:buChar char="Ø"/>
            </a:pPr>
            <a:r>
              <a:rPr lang="en-US" sz="2200" dirty="0" smtClean="0">
                <a:solidFill>
                  <a:srgbClr val="2900C0"/>
                </a:solidFill>
              </a:rPr>
              <a:t> </a:t>
            </a:r>
            <a:r>
              <a:rPr lang="en-US" sz="2200" dirty="0" smtClean="0"/>
              <a:t>HR person has required to manage excel sheet for leave record.</a:t>
            </a:r>
            <a:endParaRPr lang="en-US" sz="2200" dirty="0" smtClean="0">
              <a:solidFill>
                <a:srgbClr val="2900C0"/>
              </a:solidFill>
            </a:endParaRPr>
          </a:p>
          <a:p>
            <a:pPr lvl="0">
              <a:buFont typeface="Wingdings" pitchFamily="2" charset="2"/>
              <a:buChar char="Ø"/>
            </a:pPr>
            <a:r>
              <a:rPr lang="en-US" sz="2200" dirty="0" smtClean="0">
                <a:solidFill>
                  <a:srgbClr val="2900C0"/>
                </a:solidFill>
              </a:rPr>
              <a:t> </a:t>
            </a:r>
            <a:r>
              <a:rPr lang="en-US" sz="2200" dirty="0" smtClean="0"/>
              <a:t>HR person has required to maintain manual report for payroll.</a:t>
            </a:r>
          </a:p>
          <a:p>
            <a:pPr lvl="0">
              <a:buNone/>
            </a:pPr>
            <a:endParaRPr lang="en-US" sz="2200" dirty="0" smtClean="0">
              <a:solidFill>
                <a:srgbClr val="2900C0"/>
              </a:solidFill>
            </a:endParaRPr>
          </a:p>
          <a:p>
            <a:pPr lvl="0">
              <a:buFont typeface="Wingdings" pitchFamily="2" charset="2"/>
              <a:buChar char="Ø"/>
            </a:pPr>
            <a:endParaRPr lang="en-US" sz="2200" dirty="0" smtClean="0">
              <a:solidFill>
                <a:srgbClr val="2900C0"/>
              </a:solidFill>
            </a:endParaRPr>
          </a:p>
          <a:p>
            <a:endParaRPr lang="en-US" dirty="0"/>
          </a:p>
        </p:txBody>
      </p:sp>
      <p:pic>
        <p:nvPicPr>
          <p:cNvPr id="4" name="Picture 3"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336675" y="5664634"/>
            <a:ext cx="677903" cy="631995"/>
          </a:xfrm>
          <a:prstGeom prst="rect">
            <a:avLst/>
          </a:prstGeom>
        </p:spPr>
      </p:pic>
      <p:pic>
        <p:nvPicPr>
          <p:cNvPr id="5" name="Picture 4" descr="lms-home-247-icon.png"/>
          <p:cNvPicPr>
            <a:picLocks noChangeAspect="1"/>
          </p:cNvPicPr>
          <p:nvPr/>
        </p:nvPicPr>
        <p:blipFill>
          <a:blip r:embed="rId4">
            <a:duotone>
              <a:schemeClr val="accent6">
                <a:shade val="45000"/>
                <a:satMod val="135000"/>
              </a:schemeClr>
              <a:prstClr val="white"/>
            </a:duotone>
          </a:blip>
          <a:stretch>
            <a:fillRect/>
          </a:stretch>
        </p:blipFill>
        <p:spPr>
          <a:xfrm>
            <a:off x="10991451" y="5841242"/>
            <a:ext cx="298569" cy="476440"/>
          </a:xfrm>
          <a:prstGeom prst="rect">
            <a:avLst/>
          </a:prstGeom>
        </p:spPr>
      </p:pic>
      <p:sp>
        <p:nvSpPr>
          <p:cNvPr id="6" name="Date Placeholder 5"/>
          <p:cNvSpPr>
            <a:spLocks noGrp="1"/>
          </p:cNvSpPr>
          <p:nvPr>
            <p:ph type="dt" sz="half" idx="10"/>
          </p:nvPr>
        </p:nvSpPr>
        <p:spPr/>
        <p:txBody>
          <a:bodyPr/>
          <a:lstStyle/>
          <a:p>
            <a:fld id="{12251812-1EBD-4151-A349-D07815C4B23C}" type="datetime1">
              <a:rPr lang="en-US" smtClean="0"/>
              <a:pPr/>
              <a:t>06-Apr-17</a:t>
            </a:fld>
            <a:endParaRPr lang="en-US" dirty="0"/>
          </a:p>
        </p:txBody>
      </p:sp>
      <p:sp>
        <p:nvSpPr>
          <p:cNvPr id="7" name="Slide Number Placeholder 6"/>
          <p:cNvSpPr>
            <a:spLocks noGrp="1"/>
          </p:cNvSpPr>
          <p:nvPr>
            <p:ph type="sldNum" sz="quarter" idx="12"/>
          </p:nvPr>
        </p:nvSpPr>
        <p:spPr/>
        <p:txBody>
          <a:bodyPr/>
          <a:lstStyle/>
          <a:p>
            <a:fld id="{6113E31D-E2AB-40D1-8B51-AFA5AFEF393A}" type="slidenum">
              <a:rPr lang="en-US" smtClean="0"/>
              <a:pPr/>
              <a:t>5</a:t>
            </a:fld>
            <a:endParaRPr lang="en-US" dirty="0"/>
          </a:p>
        </p:txBody>
      </p:sp>
      <p:sp>
        <p:nvSpPr>
          <p:cNvPr id="8" name="Footer Placeholder 7"/>
          <p:cNvSpPr>
            <a:spLocks noGrp="1"/>
          </p:cNvSpPr>
          <p:nvPr>
            <p:ph type="ftr" sz="quarter" idx="11"/>
          </p:nvPr>
        </p:nvSpPr>
        <p:spPr/>
        <p:txBody>
          <a:bodyPr/>
          <a:lstStyle/>
          <a:p>
            <a:r>
              <a:rPr lang="en-US" dirty="0" smtClean="0"/>
              <a:t>Leave Management System</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System</a:t>
            </a:r>
            <a:endParaRPr lang="en-US" dirty="0"/>
          </a:p>
        </p:txBody>
      </p:sp>
      <p:sp>
        <p:nvSpPr>
          <p:cNvPr id="3" name="Content Placeholder 2"/>
          <p:cNvSpPr>
            <a:spLocks noGrp="1"/>
          </p:cNvSpPr>
          <p:nvPr>
            <p:ph idx="1"/>
          </p:nvPr>
        </p:nvSpPr>
        <p:spPr/>
        <p:txBody>
          <a:bodyPr/>
          <a:lstStyle/>
          <a:p>
            <a:pPr>
              <a:lnSpc>
                <a:spcPct val="100000"/>
              </a:lnSpc>
              <a:buFont typeface="Wingdings" pitchFamily="2" charset="2"/>
              <a:buChar char="q"/>
            </a:pPr>
            <a:r>
              <a:rPr lang="en-US" sz="2200" dirty="0" smtClean="0">
                <a:solidFill>
                  <a:schemeClr val="accent1"/>
                </a:solidFill>
              </a:rPr>
              <a:t> </a:t>
            </a:r>
            <a:r>
              <a:rPr lang="en-US" sz="2200" dirty="0" smtClean="0"/>
              <a:t>The aim of proposed system is to develop a system of improved facilities.</a:t>
            </a:r>
            <a:endParaRPr lang="en-US" sz="2200" dirty="0" smtClean="0">
              <a:solidFill>
                <a:schemeClr val="accent1"/>
              </a:solidFill>
            </a:endParaRPr>
          </a:p>
          <a:p>
            <a:pPr>
              <a:lnSpc>
                <a:spcPct val="100000"/>
              </a:lnSpc>
              <a:buFont typeface="Wingdings" pitchFamily="2" charset="2"/>
              <a:buChar char="q"/>
            </a:pPr>
            <a:r>
              <a:rPr lang="en-US" sz="2200" dirty="0" smtClean="0">
                <a:solidFill>
                  <a:schemeClr val="accent1"/>
                </a:solidFill>
              </a:rPr>
              <a:t> </a:t>
            </a:r>
            <a:r>
              <a:rPr lang="en-US" sz="2200" dirty="0" smtClean="0"/>
              <a:t>The proposed system can overcome all the limitations of the existing system and it help the user to reduce the workload and mental conflict.</a:t>
            </a:r>
          </a:p>
          <a:p>
            <a:pPr>
              <a:lnSpc>
                <a:spcPct val="100000"/>
              </a:lnSpc>
              <a:buFont typeface="Wingdings" pitchFamily="2" charset="2"/>
              <a:buChar char="q"/>
            </a:pPr>
            <a:r>
              <a:rPr lang="en-US" sz="2200" dirty="0" smtClean="0">
                <a:solidFill>
                  <a:schemeClr val="accent1"/>
                </a:solidFill>
              </a:rPr>
              <a:t> </a:t>
            </a:r>
            <a:r>
              <a:rPr lang="en-US" sz="2200" dirty="0" smtClean="0"/>
              <a:t>For that Company willing to develop a web application which allows employees to apply for leave and see their leave balance, allow manager to approve/reject leave and allow HR people to export required reports for payroll of the employees.</a:t>
            </a:r>
          </a:p>
          <a:p>
            <a:pPr>
              <a:buNone/>
            </a:pPr>
            <a:endParaRPr lang="en-US" dirty="0"/>
          </a:p>
        </p:txBody>
      </p:sp>
      <p:sp>
        <p:nvSpPr>
          <p:cNvPr id="4" name="Date Placeholder 3"/>
          <p:cNvSpPr>
            <a:spLocks noGrp="1"/>
          </p:cNvSpPr>
          <p:nvPr>
            <p:ph type="dt" sz="half" idx="10"/>
          </p:nvPr>
        </p:nvSpPr>
        <p:spPr/>
        <p:txBody>
          <a:bodyPr/>
          <a:lstStyle/>
          <a:p>
            <a:fld id="{D14D875D-B99B-45EB-90EC-C410084B1E0A}" type="datetime1">
              <a:rPr lang="en-US" smtClean="0"/>
              <a:pPr/>
              <a:t>06-Apr-17</a:t>
            </a:fld>
            <a:endParaRPr lang="en-US" dirty="0"/>
          </a:p>
        </p:txBody>
      </p:sp>
      <p:sp>
        <p:nvSpPr>
          <p:cNvPr id="5" name="Footer Placeholder 4"/>
          <p:cNvSpPr>
            <a:spLocks noGrp="1"/>
          </p:cNvSpPr>
          <p:nvPr>
            <p:ph type="ftr" sz="quarter" idx="11"/>
          </p:nvPr>
        </p:nvSpPr>
        <p:spPr/>
        <p:txBody>
          <a:bodyPr/>
          <a:lstStyle/>
          <a:p>
            <a:r>
              <a:rPr lang="en-US" smtClean="0"/>
              <a:t>Leave Management System</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6</a:t>
            </a:fld>
            <a:endParaRPr lang="en-US" dirty="0"/>
          </a:p>
        </p:txBody>
      </p:sp>
      <p:pic>
        <p:nvPicPr>
          <p:cNvPr id="7" name="Picture 6"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336675" y="5664634"/>
            <a:ext cx="677903" cy="631995"/>
          </a:xfrm>
          <a:prstGeom prst="rect">
            <a:avLst/>
          </a:prstGeom>
        </p:spPr>
      </p:pic>
      <p:pic>
        <p:nvPicPr>
          <p:cNvPr id="8" name="Picture 7" descr="lms-home-247-icon.png"/>
          <p:cNvPicPr>
            <a:picLocks noChangeAspect="1"/>
          </p:cNvPicPr>
          <p:nvPr/>
        </p:nvPicPr>
        <p:blipFill>
          <a:blip r:embed="rId4">
            <a:duotone>
              <a:schemeClr val="accent6">
                <a:shade val="45000"/>
                <a:satMod val="135000"/>
              </a:schemeClr>
              <a:prstClr val="white"/>
            </a:duotone>
          </a:blip>
          <a:stretch>
            <a:fillRect/>
          </a:stretch>
        </p:blipFill>
        <p:spPr>
          <a:xfrm>
            <a:off x="10991451" y="5841242"/>
            <a:ext cx="298569" cy="47644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Employee Flowchart</a:t>
            </a:r>
            <a:endParaRPr lang="en-US" dirty="0"/>
          </a:p>
        </p:txBody>
      </p:sp>
      <p:pic>
        <p:nvPicPr>
          <p:cNvPr id="8" name="Content Placeholder 7" descr="employee_Flowchart_1_001.jpg">
            <a:hlinkClick r:id="rId2" action="ppaction://hlinkfile"/>
          </p:cNvPr>
          <p:cNvPicPr>
            <a:picLocks noGrp="1" noChangeAspect="1"/>
          </p:cNvPicPr>
          <p:nvPr>
            <p:ph idx="1"/>
          </p:nvPr>
        </p:nvPicPr>
        <p:blipFill>
          <a:blip r:embed="rId3"/>
          <a:stretch>
            <a:fillRect/>
          </a:stretch>
        </p:blipFill>
        <p:spPr>
          <a:xfrm>
            <a:off x="5396946" y="40944"/>
            <a:ext cx="5546716" cy="6217920"/>
          </a:xfrm>
        </p:spPr>
      </p:pic>
      <p:sp>
        <p:nvSpPr>
          <p:cNvPr id="4" name="Text Placeholder 3"/>
          <p:cNvSpPr>
            <a:spLocks noGrp="1"/>
          </p:cNvSpPr>
          <p:nvPr>
            <p:ph type="body" sz="half" idx="2"/>
          </p:nvPr>
        </p:nvSpPr>
        <p:spPr/>
        <p:txBody>
          <a:bodyPr/>
          <a:lstStyle/>
          <a:p>
            <a:endParaRPr lang="en-US" dirty="0"/>
          </a:p>
        </p:txBody>
      </p:sp>
      <p:sp>
        <p:nvSpPr>
          <p:cNvPr id="5" name="Date Placeholder 4"/>
          <p:cNvSpPr>
            <a:spLocks noGrp="1"/>
          </p:cNvSpPr>
          <p:nvPr>
            <p:ph type="dt" sz="half" idx="10"/>
          </p:nvPr>
        </p:nvSpPr>
        <p:spPr/>
        <p:txBody>
          <a:bodyPr/>
          <a:lstStyle/>
          <a:p>
            <a:fld id="{B5ACE06C-C962-49FA-8007-DD5EA1989DA9}"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7</a:t>
            </a:fld>
            <a:endParaRPr lang="en-US" dirty="0"/>
          </a:p>
        </p:txBody>
      </p:sp>
      <p:pic>
        <p:nvPicPr>
          <p:cNvPr id="9" name="Picture 8" descr="LMS_Social_Media_Icon__Twitter_.png">
            <a:hlinkClick r:id="rId4" action="ppaction://hlinksldjump"/>
          </p:cNvPr>
          <p:cNvPicPr>
            <a:picLocks noChangeAspect="1"/>
          </p:cNvPicPr>
          <p:nvPr/>
        </p:nvPicPr>
        <p:blipFill>
          <a:blip r:embed="rId5">
            <a:duotone>
              <a:schemeClr val="accent6">
                <a:shade val="45000"/>
                <a:satMod val="135000"/>
              </a:schemeClr>
              <a:prstClr val="white"/>
            </a:duotone>
          </a:blip>
          <a:stretch>
            <a:fillRect/>
          </a:stretch>
        </p:blipFill>
        <p:spPr>
          <a:xfrm>
            <a:off x="11336675" y="5664634"/>
            <a:ext cx="677903" cy="631995"/>
          </a:xfrm>
          <a:prstGeom prst="rect">
            <a:avLst/>
          </a:prstGeom>
        </p:spPr>
      </p:pic>
      <p:pic>
        <p:nvPicPr>
          <p:cNvPr id="10" name="Picture 9" descr="lms-home-247-icon.png"/>
          <p:cNvPicPr>
            <a:picLocks noChangeAspect="1"/>
          </p:cNvPicPr>
          <p:nvPr/>
        </p:nvPicPr>
        <p:blipFill>
          <a:blip r:embed="rId6">
            <a:duotone>
              <a:schemeClr val="accent6">
                <a:shade val="45000"/>
                <a:satMod val="135000"/>
              </a:schemeClr>
              <a:prstClr val="white"/>
            </a:duotone>
          </a:blip>
          <a:stretch>
            <a:fillRect/>
          </a:stretch>
        </p:blipFill>
        <p:spPr>
          <a:xfrm>
            <a:off x="10991451" y="5841242"/>
            <a:ext cx="298569" cy="47644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Manager Flowchart</a:t>
            </a:r>
            <a:endParaRPr lang="en-US" dirty="0"/>
          </a:p>
        </p:txBody>
      </p:sp>
      <p:pic>
        <p:nvPicPr>
          <p:cNvPr id="8" name="Content Placeholder 7" descr="Manager_Flowchart.png"/>
          <p:cNvPicPr>
            <a:picLocks noGrp="1" noChangeAspect="1"/>
          </p:cNvPicPr>
          <p:nvPr>
            <p:ph idx="1"/>
          </p:nvPr>
        </p:nvPicPr>
        <p:blipFill>
          <a:blip r:embed="rId2"/>
          <a:srcRect b="7235"/>
          <a:stretch>
            <a:fillRect/>
          </a:stretch>
        </p:blipFill>
        <p:spPr>
          <a:xfrm>
            <a:off x="7467203" y="90382"/>
            <a:ext cx="1478381" cy="6217920"/>
          </a:xfrm>
        </p:spPr>
      </p:pic>
      <p:sp>
        <p:nvSpPr>
          <p:cNvPr id="4" name="Text Placeholder 3"/>
          <p:cNvSpPr>
            <a:spLocks noGrp="1"/>
          </p:cNvSpPr>
          <p:nvPr>
            <p:ph type="body" sz="half" idx="2"/>
          </p:nvPr>
        </p:nvSpPr>
        <p:spPr/>
        <p:txBody>
          <a:bodyPr/>
          <a:lstStyle/>
          <a:p>
            <a:endParaRPr lang="en-US"/>
          </a:p>
        </p:txBody>
      </p:sp>
      <p:sp>
        <p:nvSpPr>
          <p:cNvPr id="5" name="Date Placeholder 4"/>
          <p:cNvSpPr>
            <a:spLocks noGrp="1"/>
          </p:cNvSpPr>
          <p:nvPr>
            <p:ph type="dt" sz="half" idx="10"/>
          </p:nvPr>
        </p:nvSpPr>
        <p:spPr/>
        <p:txBody>
          <a:bodyPr/>
          <a:lstStyle/>
          <a:p>
            <a:fld id="{B5ACE06C-C962-49FA-8007-DD5EA1989DA9}"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8</a:t>
            </a:fld>
            <a:endParaRPr lang="en-US" dirty="0"/>
          </a:p>
        </p:txBody>
      </p:sp>
      <p:pic>
        <p:nvPicPr>
          <p:cNvPr id="9" name="Picture 8"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336675" y="5664634"/>
            <a:ext cx="677903" cy="631995"/>
          </a:xfrm>
          <a:prstGeom prst="rect">
            <a:avLst/>
          </a:prstGeom>
        </p:spPr>
      </p:pic>
      <p:pic>
        <p:nvPicPr>
          <p:cNvPr id="10" name="Picture 9" descr="lms-home-247-icon.png"/>
          <p:cNvPicPr>
            <a:picLocks noChangeAspect="1"/>
          </p:cNvPicPr>
          <p:nvPr/>
        </p:nvPicPr>
        <p:blipFill>
          <a:blip r:embed="rId5">
            <a:duotone>
              <a:schemeClr val="accent6">
                <a:shade val="45000"/>
                <a:satMod val="135000"/>
              </a:schemeClr>
              <a:prstClr val="white"/>
            </a:duotone>
          </a:blip>
          <a:stretch>
            <a:fillRect/>
          </a:stretch>
        </p:blipFill>
        <p:spPr>
          <a:xfrm>
            <a:off x="10991451" y="5841242"/>
            <a:ext cx="298569" cy="47644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Admin Flowchart</a:t>
            </a:r>
            <a:endParaRPr lang="en-US" dirty="0"/>
          </a:p>
        </p:txBody>
      </p:sp>
      <p:pic>
        <p:nvPicPr>
          <p:cNvPr id="8" name="Content Placeholder 7" descr="admin_flowchart.png"/>
          <p:cNvPicPr>
            <a:picLocks noGrp="1" noChangeAspect="1"/>
          </p:cNvPicPr>
          <p:nvPr>
            <p:ph idx="1"/>
          </p:nvPr>
        </p:nvPicPr>
        <p:blipFill>
          <a:blip r:embed="rId2"/>
          <a:srcRect b="6553"/>
          <a:stretch>
            <a:fillRect/>
          </a:stretch>
        </p:blipFill>
        <p:spPr>
          <a:xfrm>
            <a:off x="6291615" y="81579"/>
            <a:ext cx="3576500" cy="6309360"/>
          </a:xfrm>
        </p:spPr>
      </p:pic>
      <p:sp>
        <p:nvSpPr>
          <p:cNvPr id="4" name="Text Placeholder 3"/>
          <p:cNvSpPr>
            <a:spLocks noGrp="1"/>
          </p:cNvSpPr>
          <p:nvPr>
            <p:ph type="body" sz="half" idx="2"/>
          </p:nvPr>
        </p:nvSpPr>
        <p:spPr/>
        <p:txBody>
          <a:bodyPr/>
          <a:lstStyle/>
          <a:p>
            <a:endParaRPr lang="en-US" dirty="0"/>
          </a:p>
        </p:txBody>
      </p:sp>
      <p:sp>
        <p:nvSpPr>
          <p:cNvPr id="5" name="Date Placeholder 4"/>
          <p:cNvSpPr>
            <a:spLocks noGrp="1"/>
          </p:cNvSpPr>
          <p:nvPr>
            <p:ph type="dt" sz="half" idx="10"/>
          </p:nvPr>
        </p:nvSpPr>
        <p:spPr/>
        <p:txBody>
          <a:bodyPr/>
          <a:lstStyle/>
          <a:p>
            <a:fld id="{B5ACE06C-C962-49FA-8007-DD5EA1989DA9}"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9</a:t>
            </a:fld>
            <a:endParaRPr lang="en-US" dirty="0"/>
          </a:p>
        </p:txBody>
      </p:sp>
      <p:pic>
        <p:nvPicPr>
          <p:cNvPr id="9" name="Picture 8"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336675" y="5664634"/>
            <a:ext cx="677903" cy="631995"/>
          </a:xfrm>
          <a:prstGeom prst="rect">
            <a:avLst/>
          </a:prstGeom>
        </p:spPr>
      </p:pic>
      <p:pic>
        <p:nvPicPr>
          <p:cNvPr id="10" name="Picture 9" descr="lms-home-247-icon.png"/>
          <p:cNvPicPr>
            <a:picLocks noChangeAspect="1"/>
          </p:cNvPicPr>
          <p:nvPr/>
        </p:nvPicPr>
        <p:blipFill>
          <a:blip r:embed="rId5">
            <a:duotone>
              <a:schemeClr val="accent6">
                <a:shade val="45000"/>
                <a:satMod val="135000"/>
              </a:schemeClr>
              <a:prstClr val="white"/>
            </a:duotone>
          </a:blip>
          <a:stretch>
            <a:fillRect/>
          </a:stretch>
        </p:blipFill>
        <p:spPr>
          <a:xfrm>
            <a:off x="10991451" y="5841242"/>
            <a:ext cx="298569" cy="47644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Context Diagram</a:t>
            </a:r>
            <a:endParaRPr lang="en-US" dirty="0"/>
          </a:p>
        </p:txBody>
      </p:sp>
      <p:pic>
        <p:nvPicPr>
          <p:cNvPr id="8" name="Content Placeholder 7" descr="context_level_dfd.png"/>
          <p:cNvPicPr>
            <a:picLocks noGrp="1" noChangeAspect="1"/>
          </p:cNvPicPr>
          <p:nvPr>
            <p:ph idx="1"/>
          </p:nvPr>
        </p:nvPicPr>
        <p:blipFill>
          <a:blip r:embed="rId2"/>
          <a:stretch>
            <a:fillRect/>
          </a:stretch>
        </p:blipFill>
        <p:spPr>
          <a:xfrm>
            <a:off x="4312690" y="1324739"/>
            <a:ext cx="7589520" cy="4198667"/>
          </a:xfrm>
        </p:spPr>
      </p:pic>
      <p:sp>
        <p:nvSpPr>
          <p:cNvPr id="4" name="Text Placeholder 3"/>
          <p:cNvSpPr>
            <a:spLocks noGrp="1"/>
          </p:cNvSpPr>
          <p:nvPr>
            <p:ph type="body" sz="half" idx="2"/>
          </p:nvPr>
        </p:nvSpPr>
        <p:spPr/>
        <p:txBody>
          <a:bodyPr/>
          <a:lstStyle/>
          <a:p>
            <a:endParaRPr lang="en-US"/>
          </a:p>
        </p:txBody>
      </p:sp>
      <p:sp>
        <p:nvSpPr>
          <p:cNvPr id="5" name="Date Placeholder 4"/>
          <p:cNvSpPr>
            <a:spLocks noGrp="1"/>
          </p:cNvSpPr>
          <p:nvPr>
            <p:ph type="dt" sz="half" idx="10"/>
          </p:nvPr>
        </p:nvSpPr>
        <p:spPr/>
        <p:txBody>
          <a:bodyPr/>
          <a:lstStyle/>
          <a:p>
            <a:fld id="{B5ACE06C-C962-49FA-8007-DD5EA1989DA9}"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10</a:t>
            </a:fld>
            <a:endParaRPr lang="en-US" dirty="0"/>
          </a:p>
        </p:txBody>
      </p:sp>
      <p:pic>
        <p:nvPicPr>
          <p:cNvPr id="9" name="Picture 8"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336675" y="5664634"/>
            <a:ext cx="677903" cy="631995"/>
          </a:xfrm>
          <a:prstGeom prst="rect">
            <a:avLst/>
          </a:prstGeom>
        </p:spPr>
      </p:pic>
      <p:pic>
        <p:nvPicPr>
          <p:cNvPr id="10" name="Picture 9" descr="lms-home-247-icon.png"/>
          <p:cNvPicPr>
            <a:picLocks noChangeAspect="1"/>
          </p:cNvPicPr>
          <p:nvPr/>
        </p:nvPicPr>
        <p:blipFill>
          <a:blip r:embed="rId5">
            <a:duotone>
              <a:schemeClr val="accent6">
                <a:shade val="45000"/>
                <a:satMod val="135000"/>
              </a:schemeClr>
              <a:prstClr val="white"/>
            </a:duotone>
          </a:blip>
          <a:stretch>
            <a:fillRect/>
          </a:stretch>
        </p:blipFill>
        <p:spPr>
          <a:xfrm>
            <a:off x="10991451" y="5841242"/>
            <a:ext cx="298569" cy="47644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Employee First Level DFD</a:t>
            </a:r>
            <a:endParaRPr lang="en-US" dirty="0"/>
          </a:p>
        </p:txBody>
      </p:sp>
      <p:pic>
        <p:nvPicPr>
          <p:cNvPr id="8" name="Content Placeholder 7" descr="Employee_lvl1_dfd.png"/>
          <p:cNvPicPr>
            <a:picLocks noGrp="1" noChangeAspect="1"/>
          </p:cNvPicPr>
          <p:nvPr>
            <p:ph idx="1"/>
          </p:nvPr>
        </p:nvPicPr>
        <p:blipFill>
          <a:blip r:embed="rId2"/>
          <a:stretch>
            <a:fillRect/>
          </a:stretch>
        </p:blipFill>
        <p:spPr>
          <a:xfrm>
            <a:off x="6007478" y="76734"/>
            <a:ext cx="4694875" cy="6217920"/>
          </a:xfrm>
        </p:spPr>
      </p:pic>
      <p:sp>
        <p:nvSpPr>
          <p:cNvPr id="4" name="Text Placeholder 3"/>
          <p:cNvSpPr>
            <a:spLocks noGrp="1"/>
          </p:cNvSpPr>
          <p:nvPr>
            <p:ph type="body" sz="half" idx="2"/>
          </p:nvPr>
        </p:nvSpPr>
        <p:spPr/>
        <p:txBody>
          <a:bodyPr/>
          <a:lstStyle/>
          <a:p>
            <a:endParaRPr lang="en-US"/>
          </a:p>
        </p:txBody>
      </p:sp>
      <p:sp>
        <p:nvSpPr>
          <p:cNvPr id="5" name="Date Placeholder 4"/>
          <p:cNvSpPr>
            <a:spLocks noGrp="1"/>
          </p:cNvSpPr>
          <p:nvPr>
            <p:ph type="dt" sz="half" idx="10"/>
          </p:nvPr>
        </p:nvSpPr>
        <p:spPr/>
        <p:txBody>
          <a:bodyPr/>
          <a:lstStyle/>
          <a:p>
            <a:fld id="{B5ACE06C-C962-49FA-8007-DD5EA1989DA9}"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11</a:t>
            </a:fld>
            <a:endParaRPr lang="en-US" dirty="0"/>
          </a:p>
        </p:txBody>
      </p:sp>
      <p:pic>
        <p:nvPicPr>
          <p:cNvPr id="9" name="Picture 8"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336675" y="5664634"/>
            <a:ext cx="677903" cy="631995"/>
          </a:xfrm>
          <a:prstGeom prst="rect">
            <a:avLst/>
          </a:prstGeom>
        </p:spPr>
      </p:pic>
      <p:pic>
        <p:nvPicPr>
          <p:cNvPr id="10" name="Picture 9" descr="lms-home-247-icon.png"/>
          <p:cNvPicPr>
            <a:picLocks noChangeAspect="1"/>
          </p:cNvPicPr>
          <p:nvPr/>
        </p:nvPicPr>
        <p:blipFill>
          <a:blip r:embed="rId5">
            <a:duotone>
              <a:schemeClr val="accent6">
                <a:shade val="45000"/>
                <a:satMod val="135000"/>
              </a:schemeClr>
              <a:prstClr val="white"/>
            </a:duotone>
          </a:blip>
          <a:stretch>
            <a:fillRect/>
          </a:stretch>
        </p:blipFill>
        <p:spPr>
          <a:xfrm>
            <a:off x="10991451" y="5841242"/>
            <a:ext cx="298569" cy="47644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Manager First Level DFD</a:t>
            </a:r>
            <a:endParaRPr lang="en-US" dirty="0"/>
          </a:p>
        </p:txBody>
      </p:sp>
      <p:pic>
        <p:nvPicPr>
          <p:cNvPr id="8" name="Content Placeholder 7" descr="Manager_lvl1_dfd.png"/>
          <p:cNvPicPr>
            <a:picLocks noGrp="1" noChangeAspect="1"/>
          </p:cNvPicPr>
          <p:nvPr>
            <p:ph idx="1"/>
          </p:nvPr>
        </p:nvPicPr>
        <p:blipFill>
          <a:blip r:embed="rId2"/>
          <a:stretch>
            <a:fillRect/>
          </a:stretch>
        </p:blipFill>
        <p:spPr>
          <a:xfrm>
            <a:off x="4287069" y="613904"/>
            <a:ext cx="7664446" cy="5303520"/>
          </a:xfrm>
        </p:spPr>
      </p:pic>
      <p:sp>
        <p:nvSpPr>
          <p:cNvPr id="4" name="Text Placeholder 3"/>
          <p:cNvSpPr>
            <a:spLocks noGrp="1"/>
          </p:cNvSpPr>
          <p:nvPr>
            <p:ph type="body" sz="half" idx="2"/>
          </p:nvPr>
        </p:nvSpPr>
        <p:spPr/>
        <p:txBody>
          <a:bodyPr/>
          <a:lstStyle/>
          <a:p>
            <a:endParaRPr lang="en-US"/>
          </a:p>
        </p:txBody>
      </p:sp>
      <p:sp>
        <p:nvSpPr>
          <p:cNvPr id="5" name="Date Placeholder 4"/>
          <p:cNvSpPr>
            <a:spLocks noGrp="1"/>
          </p:cNvSpPr>
          <p:nvPr>
            <p:ph type="dt" sz="half" idx="10"/>
          </p:nvPr>
        </p:nvSpPr>
        <p:spPr/>
        <p:txBody>
          <a:bodyPr/>
          <a:lstStyle/>
          <a:p>
            <a:fld id="{B5ACE06C-C962-49FA-8007-DD5EA1989DA9}"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12</a:t>
            </a:fld>
            <a:endParaRPr lang="en-US" dirty="0"/>
          </a:p>
        </p:txBody>
      </p:sp>
      <p:pic>
        <p:nvPicPr>
          <p:cNvPr id="9" name="Picture 8"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336675" y="5664634"/>
            <a:ext cx="677903" cy="631995"/>
          </a:xfrm>
          <a:prstGeom prst="rect">
            <a:avLst/>
          </a:prstGeom>
        </p:spPr>
      </p:pic>
      <p:pic>
        <p:nvPicPr>
          <p:cNvPr id="10" name="Picture 9" descr="lms-home-247-icon.png"/>
          <p:cNvPicPr>
            <a:picLocks noChangeAspect="1"/>
          </p:cNvPicPr>
          <p:nvPr/>
        </p:nvPicPr>
        <p:blipFill>
          <a:blip r:embed="rId5">
            <a:duotone>
              <a:schemeClr val="accent6">
                <a:shade val="45000"/>
                <a:satMod val="135000"/>
              </a:schemeClr>
              <a:prstClr val="white"/>
            </a:duotone>
          </a:blip>
          <a:stretch>
            <a:fillRect/>
          </a:stretch>
        </p:blipFill>
        <p:spPr>
          <a:xfrm>
            <a:off x="10991451" y="5841242"/>
            <a:ext cx="298569" cy="47644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Admin First Level DFD</a:t>
            </a:r>
            <a:endParaRPr lang="en-US" dirty="0"/>
          </a:p>
        </p:txBody>
      </p:sp>
      <p:pic>
        <p:nvPicPr>
          <p:cNvPr id="8" name="Content Placeholder 7" descr="Administrator_lvl1_dfd.png"/>
          <p:cNvPicPr>
            <a:picLocks noGrp="1" noChangeAspect="1"/>
          </p:cNvPicPr>
          <p:nvPr>
            <p:ph idx="1"/>
          </p:nvPr>
        </p:nvPicPr>
        <p:blipFill>
          <a:blip r:embed="rId2"/>
          <a:stretch>
            <a:fillRect/>
          </a:stretch>
        </p:blipFill>
        <p:spPr>
          <a:xfrm>
            <a:off x="6027182" y="94312"/>
            <a:ext cx="4422306" cy="6217920"/>
          </a:xfrm>
        </p:spPr>
      </p:pic>
      <p:sp>
        <p:nvSpPr>
          <p:cNvPr id="4" name="Text Placeholder 3"/>
          <p:cNvSpPr>
            <a:spLocks noGrp="1"/>
          </p:cNvSpPr>
          <p:nvPr>
            <p:ph type="body" sz="half" idx="2"/>
          </p:nvPr>
        </p:nvSpPr>
        <p:spPr/>
        <p:txBody>
          <a:bodyPr/>
          <a:lstStyle/>
          <a:p>
            <a:endParaRPr lang="en-US"/>
          </a:p>
        </p:txBody>
      </p:sp>
      <p:sp>
        <p:nvSpPr>
          <p:cNvPr id="5" name="Date Placeholder 4"/>
          <p:cNvSpPr>
            <a:spLocks noGrp="1"/>
          </p:cNvSpPr>
          <p:nvPr>
            <p:ph type="dt" sz="half" idx="10"/>
          </p:nvPr>
        </p:nvSpPr>
        <p:spPr/>
        <p:txBody>
          <a:bodyPr/>
          <a:lstStyle/>
          <a:p>
            <a:fld id="{B5ACE06C-C962-49FA-8007-DD5EA1989DA9}"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13</a:t>
            </a:fld>
            <a:endParaRPr lang="en-US" dirty="0"/>
          </a:p>
        </p:txBody>
      </p:sp>
      <p:pic>
        <p:nvPicPr>
          <p:cNvPr id="9" name="Picture 8"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336675" y="5664634"/>
            <a:ext cx="677903" cy="631995"/>
          </a:xfrm>
          <a:prstGeom prst="rect">
            <a:avLst/>
          </a:prstGeom>
        </p:spPr>
      </p:pic>
      <p:pic>
        <p:nvPicPr>
          <p:cNvPr id="10" name="Picture 9" descr="lms-home-247-icon.png"/>
          <p:cNvPicPr>
            <a:picLocks noChangeAspect="1"/>
          </p:cNvPicPr>
          <p:nvPr/>
        </p:nvPicPr>
        <p:blipFill>
          <a:blip r:embed="rId5">
            <a:duotone>
              <a:schemeClr val="accent6">
                <a:shade val="45000"/>
                <a:satMod val="135000"/>
              </a:schemeClr>
              <a:prstClr val="white"/>
            </a:duotone>
          </a:blip>
          <a:stretch>
            <a:fillRect/>
          </a:stretch>
        </p:blipFill>
        <p:spPr>
          <a:xfrm>
            <a:off x="10991451" y="5841242"/>
            <a:ext cx="298569" cy="47644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Entity Relationship Diagram</a:t>
            </a:r>
            <a:endParaRPr lang="en-US" dirty="0"/>
          </a:p>
        </p:txBody>
      </p:sp>
      <p:pic>
        <p:nvPicPr>
          <p:cNvPr id="10" name="Content Placeholder 9" descr="download.jpg"/>
          <p:cNvPicPr>
            <a:picLocks noGrp="1" noChangeAspect="1"/>
          </p:cNvPicPr>
          <p:nvPr>
            <p:ph idx="1"/>
          </p:nvPr>
        </p:nvPicPr>
        <p:blipFill>
          <a:blip r:embed="rId2"/>
          <a:stretch>
            <a:fillRect/>
          </a:stretch>
        </p:blipFill>
        <p:spPr>
          <a:xfrm>
            <a:off x="6141306" y="76734"/>
            <a:ext cx="4442718" cy="6309360"/>
          </a:xfrm>
        </p:spPr>
      </p:pic>
      <p:sp>
        <p:nvSpPr>
          <p:cNvPr id="4" name="Text Placeholder 3"/>
          <p:cNvSpPr>
            <a:spLocks noGrp="1"/>
          </p:cNvSpPr>
          <p:nvPr>
            <p:ph type="body" sz="half" idx="2"/>
          </p:nvPr>
        </p:nvSpPr>
        <p:spPr/>
        <p:txBody>
          <a:bodyPr/>
          <a:lstStyle/>
          <a:p>
            <a:endParaRPr lang="en-US"/>
          </a:p>
        </p:txBody>
      </p:sp>
      <p:sp>
        <p:nvSpPr>
          <p:cNvPr id="5" name="Date Placeholder 4"/>
          <p:cNvSpPr>
            <a:spLocks noGrp="1"/>
          </p:cNvSpPr>
          <p:nvPr>
            <p:ph type="dt" sz="half" idx="10"/>
          </p:nvPr>
        </p:nvSpPr>
        <p:spPr/>
        <p:txBody>
          <a:bodyPr/>
          <a:lstStyle/>
          <a:p>
            <a:fld id="{B5ACE06C-C962-49FA-8007-DD5EA1989DA9}"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14</a:t>
            </a:fld>
            <a:endParaRPr lang="en-US" dirty="0"/>
          </a:p>
        </p:txBody>
      </p:sp>
      <p:pic>
        <p:nvPicPr>
          <p:cNvPr id="8" name="Picture 7"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336675" y="5664634"/>
            <a:ext cx="677903" cy="631995"/>
          </a:xfrm>
          <a:prstGeom prst="rect">
            <a:avLst/>
          </a:prstGeom>
        </p:spPr>
      </p:pic>
      <p:pic>
        <p:nvPicPr>
          <p:cNvPr id="9" name="Picture 8" descr="lms-home-247-icon.png"/>
          <p:cNvPicPr>
            <a:picLocks noChangeAspect="1"/>
          </p:cNvPicPr>
          <p:nvPr/>
        </p:nvPicPr>
        <p:blipFill>
          <a:blip r:embed="rId5">
            <a:duotone>
              <a:schemeClr val="accent6">
                <a:shade val="45000"/>
                <a:satMod val="135000"/>
              </a:schemeClr>
              <a:prstClr val="white"/>
            </a:duotone>
          </a:blip>
          <a:stretch>
            <a:fillRect/>
          </a:stretch>
        </p:blipFill>
        <p:spPr>
          <a:xfrm>
            <a:off x="10991451" y="5841242"/>
            <a:ext cx="298569" cy="47644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pPr algn="r"/>
            <a:r>
              <a:rPr lang="en-US" dirty="0" smtClean="0"/>
              <a:t>Data Dictionary</a:t>
            </a:r>
            <a:endParaRPr lang="en-US" dirty="0"/>
          </a:p>
        </p:txBody>
      </p:sp>
      <p:sp>
        <p:nvSpPr>
          <p:cNvPr id="3" name="Date Placeholder 2"/>
          <p:cNvSpPr>
            <a:spLocks noGrp="1"/>
          </p:cNvSpPr>
          <p:nvPr>
            <p:ph type="dt" sz="half" idx="10"/>
          </p:nvPr>
        </p:nvSpPr>
        <p:spPr/>
        <p:txBody>
          <a:bodyPr/>
          <a:lstStyle/>
          <a:p>
            <a:fld id="{FB0F3F9A-38CE-4984-BC0A-47B612AC6B4A}" type="datetime1">
              <a:rPr lang="en-US" smtClean="0"/>
              <a:pPr/>
              <a:t>06-Apr-17</a:t>
            </a:fld>
            <a:endParaRPr lang="en-US" dirty="0"/>
          </a:p>
        </p:txBody>
      </p:sp>
      <p:sp>
        <p:nvSpPr>
          <p:cNvPr id="4" name="Footer Placeholder 3"/>
          <p:cNvSpPr>
            <a:spLocks noGrp="1"/>
          </p:cNvSpPr>
          <p:nvPr>
            <p:ph type="ftr" sz="quarter" idx="11"/>
          </p:nvPr>
        </p:nvSpPr>
        <p:spPr/>
        <p:txBody>
          <a:bodyPr/>
          <a:lstStyle/>
          <a:p>
            <a:r>
              <a:rPr lang="en-US" smtClean="0"/>
              <a:t>Leave Management System</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15</a:t>
            </a:fld>
            <a:endParaRPr lang="en-US" dirty="0"/>
          </a:p>
        </p:txBody>
      </p:sp>
      <p:pic>
        <p:nvPicPr>
          <p:cNvPr id="8" name="Picture 7"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336675" y="5664634"/>
            <a:ext cx="677903" cy="631995"/>
          </a:xfrm>
          <a:prstGeom prst="rect">
            <a:avLst/>
          </a:prstGeom>
        </p:spPr>
      </p:pic>
      <p:pic>
        <p:nvPicPr>
          <p:cNvPr id="9" name="Picture 8" descr="lms-home-247-icon.png"/>
          <p:cNvPicPr>
            <a:picLocks noChangeAspect="1"/>
          </p:cNvPicPr>
          <p:nvPr/>
        </p:nvPicPr>
        <p:blipFill>
          <a:blip r:embed="rId4">
            <a:duotone>
              <a:schemeClr val="accent6">
                <a:shade val="45000"/>
                <a:satMod val="135000"/>
              </a:schemeClr>
              <a:prstClr val="white"/>
            </a:duotone>
          </a:blip>
          <a:stretch>
            <a:fillRect/>
          </a:stretch>
        </p:blipFill>
        <p:spPr>
          <a:xfrm>
            <a:off x="10991451" y="5841242"/>
            <a:ext cx="298569" cy="47644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5090686"/>
            <a:ext cx="10113264" cy="900211"/>
          </a:xfrm>
        </p:spPr>
        <p:txBody>
          <a:bodyPr/>
          <a:lstStyle/>
          <a:p>
            <a:pPr>
              <a:lnSpc>
                <a:spcPct val="100000"/>
              </a:lnSpc>
            </a:pPr>
            <a:r>
              <a:rPr lang="en-US" sz="2400" u="sng" dirty="0" smtClean="0"/>
              <a:t>Table Name : </a:t>
            </a:r>
            <a:r>
              <a:rPr lang="en-US" sz="2400" u="sng" dirty="0" err="1" smtClean="0"/>
              <a:t>t_lms_financial_period_config</a:t>
            </a:r>
            <a:r>
              <a:rPr lang="en-US" sz="2400" dirty="0" smtClean="0"/>
              <a:t/>
            </a:r>
            <a:br>
              <a:rPr lang="en-US" sz="2400" dirty="0" smtClean="0"/>
            </a:br>
            <a:r>
              <a:rPr lang="en-US" sz="2400" dirty="0" smtClean="0"/>
              <a:t>Description: This table contains information of financial period.</a:t>
            </a:r>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16</a:t>
            </a:fld>
            <a:endParaRPr lang="en-US" dirty="0"/>
          </a:p>
        </p:txBody>
      </p:sp>
      <p:graphicFrame>
        <p:nvGraphicFramePr>
          <p:cNvPr id="9" name="Table 8"/>
          <p:cNvGraphicFramePr>
            <a:graphicFrameLocks noGrp="1"/>
          </p:cNvGraphicFramePr>
          <p:nvPr/>
        </p:nvGraphicFramePr>
        <p:xfrm>
          <a:off x="1025699" y="331076"/>
          <a:ext cx="10017458" cy="4174040"/>
        </p:xfrm>
        <a:graphic>
          <a:graphicData uri="http://schemas.openxmlformats.org/drawingml/2006/table">
            <a:tbl>
              <a:tblPr/>
              <a:tblGrid>
                <a:gridCol w="637153"/>
                <a:gridCol w="2389323"/>
                <a:gridCol w="1946856"/>
                <a:gridCol w="1946856"/>
                <a:gridCol w="3097270"/>
              </a:tblGrid>
              <a:tr h="515402">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No.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Fields 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Data Type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Contains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Description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88202">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financial_period_id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PRIMARY KEY,</a:t>
                      </a:r>
                    </a:p>
                    <a:p>
                      <a:pPr marL="0" marR="0" algn="ctr">
                        <a:lnSpc>
                          <a:spcPct val="100000"/>
                        </a:lnSpc>
                        <a:spcBef>
                          <a:spcPts val="0"/>
                        </a:spcBef>
                        <a:spcAft>
                          <a:spcPts val="0"/>
                        </a:spcAft>
                        <a:tabLst>
                          <a:tab pos="2529205" algn="l"/>
                        </a:tabLst>
                      </a:pPr>
                      <a:r>
                        <a:rPr lang="en-US" sz="1800" dirty="0">
                          <a:latin typeface="+mn-lt"/>
                          <a:ea typeface="Calibri"/>
                          <a:cs typeface="Shruti"/>
                        </a:rPr>
                        <a:t>NOT 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Id of financial period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3289">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err="1">
                          <a:latin typeface="+mn-lt"/>
                          <a:ea typeface="Calibri"/>
                          <a:cs typeface="Shruti"/>
                        </a:rPr>
                        <a:t>end_month</a:t>
                      </a:r>
                      <a:endParaRPr lang="en-US" sz="1800" dirty="0">
                        <a:latin typeface="+mn-lt"/>
                        <a:ea typeface="Calibri"/>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VARCHAR(255)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detail about ending month in financial period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3289">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end_year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INT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ending year of financial period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3289">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err="1">
                          <a:latin typeface="+mn-lt"/>
                          <a:ea typeface="Calibri"/>
                          <a:cs typeface="Shruti"/>
                        </a:rPr>
                        <a:t>financial_period_name</a:t>
                      </a:r>
                      <a:endParaRPr lang="en-US" sz="1800" dirty="0">
                        <a:latin typeface="+mn-lt"/>
                        <a:ea typeface="Calibri"/>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VARCHAR(255)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name of financial period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3289">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is_active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BIT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status of financial period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3289">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start_month</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VARCHAR(255)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starting month of financial period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3289">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start_year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INT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starting year of financial year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0" name="Picture 9"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1" name="Picture 10" descr="lms-home-247-icon.png"/>
          <p:cNvPicPr>
            <a:picLocks noChangeAspect="1"/>
          </p:cNvPicPr>
          <p:nvPr/>
        </p:nvPicPr>
        <p:blipFill>
          <a:blip r:embed="rId4">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5074920"/>
            <a:ext cx="10113264" cy="805618"/>
          </a:xfrm>
        </p:spPr>
        <p:txBody>
          <a:bodyPr/>
          <a:lstStyle/>
          <a:p>
            <a:pPr>
              <a:lnSpc>
                <a:spcPct val="100000"/>
              </a:lnSpc>
            </a:pPr>
            <a:r>
              <a:rPr lang="en-US" sz="2400" u="sng" dirty="0" smtClean="0"/>
              <a:t>Table Name : </a:t>
            </a:r>
            <a:r>
              <a:rPr lang="en-US" sz="2400" u="sng" dirty="0" err="1" smtClean="0"/>
              <a:t>t_lms_user_master</a:t>
            </a:r>
            <a:r>
              <a:rPr lang="en-US" sz="2400" dirty="0" smtClean="0"/>
              <a:t/>
            </a:r>
            <a:br>
              <a:rPr lang="en-US" sz="2400" dirty="0" smtClean="0"/>
            </a:br>
            <a:r>
              <a:rPr lang="en-US" sz="2400" dirty="0" smtClean="0"/>
              <a:t>Description: </a:t>
            </a:r>
            <a:r>
              <a:rPr lang="en-US" sz="2400" dirty="0" err="1" smtClean="0"/>
              <a:t>t_lms_user_master</a:t>
            </a:r>
            <a:r>
              <a:rPr lang="en-US" sz="2400" dirty="0" smtClean="0"/>
              <a:t> table contain the details of system user.</a:t>
            </a:r>
            <a:endParaRPr lang="en-US" sz="2400"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17</a:t>
            </a:fld>
            <a:endParaRPr lang="en-US" dirty="0"/>
          </a:p>
        </p:txBody>
      </p:sp>
      <p:pic>
        <p:nvPicPr>
          <p:cNvPr id="9" name="Picture 8"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0" name="Picture 9" descr="lms-home-247-icon.png"/>
          <p:cNvPicPr>
            <a:picLocks noChangeAspect="1"/>
          </p:cNvPicPr>
          <p:nvPr/>
        </p:nvPicPr>
        <p:blipFill>
          <a:blip r:embed="rId4">
            <a:duotone>
              <a:schemeClr val="accent6">
                <a:shade val="45000"/>
                <a:satMod val="135000"/>
              </a:schemeClr>
              <a:prstClr val="white"/>
            </a:duotone>
          </a:blip>
          <a:stretch>
            <a:fillRect/>
          </a:stretch>
        </p:blipFill>
        <p:spPr>
          <a:xfrm>
            <a:off x="11133338" y="4422345"/>
            <a:ext cx="298569" cy="476440"/>
          </a:xfrm>
          <a:prstGeom prst="rect">
            <a:avLst/>
          </a:prstGeom>
        </p:spPr>
      </p:pic>
      <p:graphicFrame>
        <p:nvGraphicFramePr>
          <p:cNvPr id="11" name="Table 10"/>
          <p:cNvGraphicFramePr>
            <a:graphicFrameLocks noGrp="1"/>
          </p:cNvGraphicFramePr>
          <p:nvPr/>
        </p:nvGraphicFramePr>
        <p:xfrm>
          <a:off x="1072055" y="220716"/>
          <a:ext cx="9948042" cy="4328422"/>
        </p:xfrm>
        <a:graphic>
          <a:graphicData uri="http://schemas.openxmlformats.org/drawingml/2006/table">
            <a:tbl>
              <a:tblPr/>
              <a:tblGrid>
                <a:gridCol w="640760"/>
                <a:gridCol w="2402849"/>
                <a:gridCol w="2135865"/>
                <a:gridCol w="1957877"/>
                <a:gridCol w="2810691"/>
              </a:tblGrid>
              <a:tr h="618346">
                <a:tc>
                  <a:txBody>
                    <a:bodyPr/>
                    <a:lstStyle/>
                    <a:p>
                      <a:pPr marL="0" marR="0" algn="ctr">
                        <a:lnSpc>
                          <a:spcPct val="150000"/>
                        </a:lnSpc>
                        <a:spcBef>
                          <a:spcPts val="0"/>
                        </a:spcBef>
                        <a:spcAft>
                          <a:spcPts val="0"/>
                        </a:spcAft>
                        <a:tabLst>
                          <a:tab pos="2529205" algn="l"/>
                        </a:tabLst>
                      </a:pPr>
                      <a:r>
                        <a:rPr lang="en-US" sz="1800" dirty="0">
                          <a:latin typeface="+mn-lt"/>
                          <a:ea typeface="Calibri"/>
                          <a:cs typeface="Shruti"/>
                        </a:rPr>
                        <a:t>No.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tabLst>
                          <a:tab pos="2529205" algn="l"/>
                        </a:tabLst>
                      </a:pPr>
                      <a:r>
                        <a:rPr lang="en-US" sz="1800">
                          <a:latin typeface="+mn-lt"/>
                          <a:ea typeface="Calibri"/>
                          <a:cs typeface="Shruti"/>
                        </a:rPr>
                        <a:t>Fields 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tabLst>
                          <a:tab pos="2529205" algn="l"/>
                        </a:tabLst>
                      </a:pPr>
                      <a:r>
                        <a:rPr lang="en-US" sz="1800">
                          <a:latin typeface="+mn-lt"/>
                          <a:ea typeface="Calibri"/>
                          <a:cs typeface="Shruti"/>
                        </a:rPr>
                        <a:t>Data Type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tabLst>
                          <a:tab pos="2529205" algn="l"/>
                        </a:tabLst>
                      </a:pPr>
                      <a:r>
                        <a:rPr lang="en-US" sz="1800">
                          <a:latin typeface="+mn-lt"/>
                          <a:ea typeface="Calibri"/>
                          <a:cs typeface="Shruti"/>
                        </a:rPr>
                        <a:t>Contains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tabLst>
                          <a:tab pos="2529205" algn="l"/>
                        </a:tabLst>
                      </a:pPr>
                      <a:r>
                        <a:rPr lang="en-US" sz="1800">
                          <a:latin typeface="+mn-lt"/>
                          <a:ea typeface="Calibri"/>
                          <a:cs typeface="Shruti"/>
                        </a:rPr>
                        <a:t>Description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18346">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user_id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PRIMARY KEY,</a:t>
                      </a:r>
                    </a:p>
                    <a:p>
                      <a:pPr marL="0" marR="0" algn="ctr">
                        <a:lnSpc>
                          <a:spcPct val="100000"/>
                        </a:lnSpc>
                        <a:spcBef>
                          <a:spcPts val="0"/>
                        </a:spcBef>
                        <a:spcAft>
                          <a:spcPts val="0"/>
                        </a:spcAft>
                        <a:tabLst>
                          <a:tab pos="2529205" algn="l"/>
                        </a:tabLst>
                      </a:pPr>
                      <a:r>
                        <a:rPr lang="en-US" sz="1800">
                          <a:latin typeface="+mn-lt"/>
                          <a:ea typeface="Calibri"/>
                          <a:cs typeface="Shruti"/>
                        </a:rPr>
                        <a:t>NOT 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Id of user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18346">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username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VARCHAR(255)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username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18346">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user_principal_name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VARCHAR(255)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user full 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18346">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email_id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VARCHAR(255)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user email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18346">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joining_date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DATETIME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user joining date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18346">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date_of_birth</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DATETIME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user birth date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sz="2400" u="sng" dirty="0" smtClean="0"/>
              <a:t>Table Name : </a:t>
            </a:r>
            <a:r>
              <a:rPr lang="en-US" sz="2400" u="sng" dirty="0" err="1" smtClean="0"/>
              <a:t>t_lms_role</a:t>
            </a:r>
            <a:r>
              <a:rPr lang="en-US" sz="2400" dirty="0" smtClean="0"/>
              <a:t/>
            </a:r>
            <a:br>
              <a:rPr lang="en-US" sz="2400" dirty="0" smtClean="0"/>
            </a:br>
            <a:r>
              <a:rPr lang="en-US" sz="2400" dirty="0" smtClean="0"/>
              <a:t>Description: </a:t>
            </a:r>
            <a:r>
              <a:rPr lang="en-US" sz="2400" dirty="0" err="1" smtClean="0"/>
              <a:t>t_lms_role</a:t>
            </a:r>
            <a:r>
              <a:rPr lang="en-US" sz="2400" dirty="0" smtClean="0"/>
              <a:t> table contain the name of different role for system.</a:t>
            </a:r>
            <a:endParaRPr lang="en-US" sz="2400"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dirty="0"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18</a:t>
            </a:fld>
            <a:endParaRPr lang="en-US" dirty="0"/>
          </a:p>
        </p:txBody>
      </p:sp>
      <p:graphicFrame>
        <p:nvGraphicFramePr>
          <p:cNvPr id="11" name="Table 10"/>
          <p:cNvGraphicFramePr>
            <a:graphicFrameLocks noGrp="1"/>
          </p:cNvGraphicFramePr>
          <p:nvPr/>
        </p:nvGraphicFramePr>
        <p:xfrm>
          <a:off x="1087823" y="520262"/>
          <a:ext cx="10058397" cy="2165770"/>
        </p:xfrm>
        <a:graphic>
          <a:graphicData uri="http://schemas.openxmlformats.org/drawingml/2006/table">
            <a:tbl>
              <a:tblPr/>
              <a:tblGrid>
                <a:gridCol w="639757"/>
                <a:gridCol w="2487943"/>
                <a:gridCol w="2132522"/>
                <a:gridCol w="2132522"/>
                <a:gridCol w="2665653"/>
              </a:tblGrid>
              <a:tr h="562395">
                <a:tc>
                  <a:txBody>
                    <a:bodyPr/>
                    <a:lstStyle/>
                    <a:p>
                      <a:pPr marL="0" marR="0" algn="ctr">
                        <a:lnSpc>
                          <a:spcPct val="150000"/>
                        </a:lnSpc>
                        <a:spcBef>
                          <a:spcPts val="0"/>
                        </a:spcBef>
                        <a:spcAft>
                          <a:spcPts val="0"/>
                        </a:spcAft>
                        <a:tabLst>
                          <a:tab pos="2529205" algn="l"/>
                        </a:tabLst>
                      </a:pPr>
                      <a:r>
                        <a:rPr lang="en-US" sz="1800" dirty="0">
                          <a:latin typeface="+mn-lt"/>
                          <a:ea typeface="Calibri"/>
                          <a:cs typeface="Shruti"/>
                        </a:rPr>
                        <a:t>No.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tabLst>
                          <a:tab pos="2529205" algn="l"/>
                        </a:tabLst>
                      </a:pPr>
                      <a:r>
                        <a:rPr lang="en-US" sz="1800" dirty="0">
                          <a:latin typeface="+mn-lt"/>
                          <a:ea typeface="Calibri"/>
                          <a:cs typeface="Shruti"/>
                        </a:rPr>
                        <a:t>Fields 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tabLst>
                          <a:tab pos="2529205" algn="l"/>
                        </a:tabLst>
                      </a:pPr>
                      <a:r>
                        <a:rPr lang="en-US" sz="1800">
                          <a:latin typeface="+mn-lt"/>
                          <a:ea typeface="Calibri"/>
                          <a:cs typeface="Shruti"/>
                        </a:rPr>
                        <a:t>Data Type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tabLst>
                          <a:tab pos="2529205" algn="l"/>
                        </a:tabLst>
                      </a:pPr>
                      <a:r>
                        <a:rPr lang="en-US" sz="1800">
                          <a:latin typeface="+mn-lt"/>
                          <a:ea typeface="Calibri"/>
                          <a:cs typeface="Shruti"/>
                        </a:rPr>
                        <a:t>Contains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tabLst>
                          <a:tab pos="2529205" algn="l"/>
                        </a:tabLst>
                      </a:pPr>
                      <a:r>
                        <a:rPr lang="en-US" sz="1800">
                          <a:latin typeface="+mn-lt"/>
                          <a:ea typeface="Calibri"/>
                          <a:cs typeface="Shruti"/>
                        </a:rPr>
                        <a:t>Description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14612">
                <a:tc>
                  <a:txBody>
                    <a:bodyPr/>
                    <a:lstStyle/>
                    <a:p>
                      <a:pPr marL="0" marR="0" algn="ctr">
                        <a:lnSpc>
                          <a:spcPct val="150000"/>
                        </a:lnSpc>
                        <a:spcBef>
                          <a:spcPts val="0"/>
                        </a:spcBef>
                        <a:spcAft>
                          <a:spcPts val="0"/>
                        </a:spcAft>
                        <a:tabLst>
                          <a:tab pos="2529205" algn="l"/>
                        </a:tabLst>
                      </a:pPr>
                      <a:r>
                        <a:rPr lang="en-US" sz="1800">
                          <a:latin typeface="+mn-lt"/>
                          <a:ea typeface="Calibri"/>
                          <a:cs typeface="Shruti"/>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tabLst>
                          <a:tab pos="2529205" algn="l"/>
                        </a:tabLst>
                      </a:pPr>
                      <a:r>
                        <a:rPr lang="en-US" sz="1800" dirty="0" err="1">
                          <a:latin typeface="+mn-lt"/>
                          <a:ea typeface="Calibri"/>
                          <a:cs typeface="Shruti"/>
                        </a:rPr>
                        <a:t>role_id</a:t>
                      </a:r>
                      <a:endParaRPr lang="en-US" sz="1800" dirty="0">
                        <a:latin typeface="+mn-lt"/>
                        <a:ea typeface="Calibri"/>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tabLst>
                          <a:tab pos="2529205" algn="l"/>
                        </a:tabLst>
                      </a:pPr>
                      <a:r>
                        <a:rPr lang="en-US" sz="1800">
                          <a:latin typeface="+mn-lt"/>
                          <a:ea typeface="Calibri"/>
                          <a:cs typeface="Shruti"/>
                        </a:rPr>
                        <a:t>PRIMARY KEY,</a:t>
                      </a:r>
                    </a:p>
                    <a:p>
                      <a:pPr marL="0" marR="0" algn="ctr">
                        <a:lnSpc>
                          <a:spcPct val="150000"/>
                        </a:lnSpc>
                        <a:spcBef>
                          <a:spcPts val="0"/>
                        </a:spcBef>
                        <a:spcAft>
                          <a:spcPts val="0"/>
                        </a:spcAft>
                        <a:tabLst>
                          <a:tab pos="2529205" algn="l"/>
                        </a:tabLst>
                      </a:pPr>
                      <a:r>
                        <a:rPr lang="en-US" sz="1800">
                          <a:latin typeface="+mn-lt"/>
                          <a:ea typeface="Calibri"/>
                          <a:cs typeface="Shruti"/>
                        </a:rPr>
                        <a:t>NOT 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tabLst>
                          <a:tab pos="2529205" algn="l"/>
                        </a:tabLst>
                      </a:pPr>
                      <a:r>
                        <a:rPr lang="en-US" sz="1800" dirty="0">
                          <a:latin typeface="+mn-lt"/>
                          <a:ea typeface="Calibri"/>
                          <a:cs typeface="Shruti"/>
                        </a:rPr>
                        <a:t>contain role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80415">
                <a:tc>
                  <a:txBody>
                    <a:bodyPr/>
                    <a:lstStyle/>
                    <a:p>
                      <a:pPr marL="0" marR="0" algn="ctr">
                        <a:lnSpc>
                          <a:spcPct val="150000"/>
                        </a:lnSpc>
                        <a:spcBef>
                          <a:spcPts val="0"/>
                        </a:spcBef>
                        <a:spcAft>
                          <a:spcPts val="0"/>
                        </a:spcAft>
                        <a:tabLst>
                          <a:tab pos="2529205" algn="l"/>
                        </a:tabLst>
                      </a:pPr>
                      <a:r>
                        <a:rPr lang="en-US" sz="1800">
                          <a:latin typeface="+mn-lt"/>
                          <a:ea typeface="Calibri"/>
                          <a:cs typeface="Shruti"/>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tabLst>
                          <a:tab pos="2529205" algn="l"/>
                        </a:tabLst>
                      </a:pPr>
                      <a:r>
                        <a:rPr lang="en-US" sz="1800" dirty="0" err="1">
                          <a:latin typeface="+mn-lt"/>
                          <a:ea typeface="Calibri"/>
                          <a:cs typeface="Shruti"/>
                        </a:rPr>
                        <a:t>role_name</a:t>
                      </a:r>
                      <a:endParaRPr lang="en-US" sz="1800" dirty="0">
                        <a:latin typeface="+mn-lt"/>
                        <a:ea typeface="Calibri"/>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tabLst>
                          <a:tab pos="2529205" algn="l"/>
                        </a:tabLst>
                      </a:pPr>
                      <a:r>
                        <a:rPr lang="en-US" sz="1800" dirty="0">
                          <a:latin typeface="+mn-lt"/>
                          <a:ea typeface="Calibri"/>
                          <a:cs typeface="Shruti"/>
                        </a:rPr>
                        <a:t>VARCHAR(255)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tabLst>
                          <a:tab pos="2529205" algn="l"/>
                        </a:tabLst>
                      </a:pPr>
                      <a:r>
                        <a:rPr lang="en-US" sz="1800" dirty="0">
                          <a:latin typeface="+mn-lt"/>
                          <a:ea typeface="Calibri"/>
                          <a:cs typeface="Shruti"/>
                        </a:rPr>
                        <a:t>contain role 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2" name="Picture 11"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3" name="Picture 12" descr="lms-home-247-icon.png"/>
          <p:cNvPicPr>
            <a:picLocks noChangeAspect="1"/>
          </p:cNvPicPr>
          <p:nvPr/>
        </p:nvPicPr>
        <p:blipFill>
          <a:blip r:embed="rId4">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5153746"/>
            <a:ext cx="10113264" cy="1073633"/>
          </a:xfrm>
        </p:spPr>
        <p:txBody>
          <a:bodyPr/>
          <a:lstStyle/>
          <a:p>
            <a:pPr>
              <a:lnSpc>
                <a:spcPct val="100000"/>
              </a:lnSpc>
            </a:pPr>
            <a:r>
              <a:rPr lang="en-US" sz="2400" u="sng" dirty="0"/>
              <a:t>Table Name : </a:t>
            </a:r>
            <a:r>
              <a:rPr lang="en-US" sz="2400" u="sng" dirty="0" err="1"/>
              <a:t>t_lms_user_role</a:t>
            </a:r>
            <a:r>
              <a:rPr lang="en-US" sz="2400" dirty="0"/>
              <a:t/>
            </a:r>
            <a:br>
              <a:rPr lang="en-US" sz="2400" dirty="0"/>
            </a:br>
            <a:r>
              <a:rPr lang="en-US" sz="2400" dirty="0"/>
              <a:t>Description: </a:t>
            </a:r>
            <a:r>
              <a:rPr lang="en-US" sz="2400" dirty="0" err="1"/>
              <a:t>t_lms_user_role</a:t>
            </a:r>
            <a:r>
              <a:rPr lang="en-US" sz="2400" dirty="0"/>
              <a:t> table contain the detail of provided roles to user in system.</a:t>
            </a:r>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dirty="0"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19</a:t>
            </a:fld>
            <a:endParaRPr lang="en-US" dirty="0"/>
          </a:p>
        </p:txBody>
      </p:sp>
      <p:pic>
        <p:nvPicPr>
          <p:cNvPr id="12" name="Picture 11"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3" name="Picture 12" descr="lms-home-247-icon.png"/>
          <p:cNvPicPr>
            <a:picLocks noChangeAspect="1"/>
          </p:cNvPicPr>
          <p:nvPr/>
        </p:nvPicPr>
        <p:blipFill>
          <a:blip r:embed="rId4">
            <a:duotone>
              <a:schemeClr val="accent6">
                <a:shade val="45000"/>
                <a:satMod val="135000"/>
              </a:schemeClr>
              <a:prstClr val="white"/>
            </a:duotone>
          </a:blip>
          <a:stretch>
            <a:fillRect/>
          </a:stretch>
        </p:blipFill>
        <p:spPr>
          <a:xfrm>
            <a:off x="11133338" y="4422345"/>
            <a:ext cx="298569" cy="476440"/>
          </a:xfrm>
          <a:prstGeom prst="rect">
            <a:avLst/>
          </a:prstGeom>
        </p:spPr>
      </p:pic>
      <p:graphicFrame>
        <p:nvGraphicFramePr>
          <p:cNvPr id="9" name="Table 8"/>
          <p:cNvGraphicFramePr>
            <a:graphicFrameLocks noGrp="1"/>
          </p:cNvGraphicFramePr>
          <p:nvPr/>
        </p:nvGraphicFramePr>
        <p:xfrm>
          <a:off x="1119352" y="599090"/>
          <a:ext cx="10074164" cy="2239593"/>
        </p:xfrm>
        <a:graphic>
          <a:graphicData uri="http://schemas.openxmlformats.org/drawingml/2006/table">
            <a:tbl>
              <a:tblPr/>
              <a:tblGrid>
                <a:gridCol w="640760"/>
                <a:gridCol w="2491843"/>
                <a:gridCol w="2135864"/>
                <a:gridCol w="1868882"/>
                <a:gridCol w="2936815"/>
              </a:tblGrid>
              <a:tr h="685113">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No.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Fields 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Data Type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Contains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Description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7724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err="1">
                          <a:latin typeface="+mn-lt"/>
                          <a:ea typeface="Calibri"/>
                          <a:cs typeface="Shruti"/>
                        </a:rPr>
                        <a:t>user_id</a:t>
                      </a:r>
                      <a:endParaRPr lang="en-US" sz="1800" dirty="0">
                        <a:latin typeface="+mn-lt"/>
                        <a:ea typeface="Calibri"/>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FOREIGN KEY,</a:t>
                      </a:r>
                    </a:p>
                    <a:p>
                      <a:pPr marL="0" marR="0" algn="ctr">
                        <a:lnSpc>
                          <a:spcPct val="100000"/>
                        </a:lnSpc>
                        <a:spcBef>
                          <a:spcPts val="0"/>
                        </a:spcBef>
                        <a:spcAft>
                          <a:spcPts val="0"/>
                        </a:spcAft>
                        <a:tabLst>
                          <a:tab pos="2529205" algn="l"/>
                        </a:tabLst>
                      </a:pPr>
                      <a:r>
                        <a:rPr lang="en-US" sz="1800">
                          <a:latin typeface="+mn-lt"/>
                          <a:ea typeface="Calibri"/>
                          <a:cs typeface="Shruti"/>
                        </a:rPr>
                        <a:t>NOT 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user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7724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err="1">
                          <a:latin typeface="+mn-lt"/>
                          <a:ea typeface="Calibri"/>
                          <a:cs typeface="Shruti"/>
                        </a:rPr>
                        <a:t>role_id</a:t>
                      </a:r>
                      <a:endParaRPr lang="en-US" sz="1800" dirty="0">
                        <a:latin typeface="+mn-lt"/>
                        <a:ea typeface="Calibri"/>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FOREIGN KEY,</a:t>
                      </a:r>
                    </a:p>
                    <a:p>
                      <a:pPr marL="0" marR="0" algn="ctr">
                        <a:lnSpc>
                          <a:spcPct val="100000"/>
                        </a:lnSpc>
                        <a:spcBef>
                          <a:spcPts val="0"/>
                        </a:spcBef>
                        <a:spcAft>
                          <a:spcPts val="0"/>
                        </a:spcAft>
                        <a:tabLst>
                          <a:tab pos="2529205" algn="l"/>
                        </a:tabLst>
                      </a:pPr>
                      <a:r>
                        <a:rPr lang="en-US" sz="1800">
                          <a:latin typeface="+mn-lt"/>
                          <a:ea typeface="Calibri"/>
                          <a:cs typeface="Shruti"/>
                        </a:rPr>
                        <a:t>NOT 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role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sz="2400" u="sng" dirty="0"/>
              <a:t>Table Name : </a:t>
            </a:r>
            <a:r>
              <a:rPr lang="en-US" sz="2400" u="sng" dirty="0" err="1"/>
              <a:t>t_lms_position</a:t>
            </a:r>
            <a:r>
              <a:rPr lang="en-US" sz="2400" dirty="0"/>
              <a:t/>
            </a:r>
            <a:br>
              <a:rPr lang="en-US" sz="2400" dirty="0"/>
            </a:br>
            <a:r>
              <a:rPr lang="en-US" sz="2400" dirty="0"/>
              <a:t>Description: </a:t>
            </a:r>
            <a:r>
              <a:rPr lang="en-US" sz="2400" dirty="0" err="1"/>
              <a:t>t_lms_position</a:t>
            </a:r>
            <a:r>
              <a:rPr lang="en-US" sz="2400" dirty="0"/>
              <a:t> table contain the name of different position in company</a:t>
            </a:r>
            <a:r>
              <a:rPr lang="en-US" sz="2400" dirty="0" smtClean="0"/>
              <a:t>.</a:t>
            </a:r>
            <a:endParaRPr lang="en-US" sz="2400"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20</a:t>
            </a:fld>
            <a:endParaRPr lang="en-US" dirty="0"/>
          </a:p>
        </p:txBody>
      </p:sp>
      <p:graphicFrame>
        <p:nvGraphicFramePr>
          <p:cNvPr id="8" name="Table 7"/>
          <p:cNvGraphicFramePr>
            <a:graphicFrameLocks noGrp="1"/>
          </p:cNvGraphicFramePr>
          <p:nvPr/>
        </p:nvGraphicFramePr>
        <p:xfrm>
          <a:off x="1229711" y="567560"/>
          <a:ext cx="9790387" cy="2172466"/>
        </p:xfrm>
        <a:graphic>
          <a:graphicData uri="http://schemas.openxmlformats.org/drawingml/2006/table">
            <a:tbl>
              <a:tblPr/>
              <a:tblGrid>
                <a:gridCol w="622711"/>
                <a:gridCol w="2421651"/>
                <a:gridCol w="2075700"/>
                <a:gridCol w="1989213"/>
                <a:gridCol w="2681112"/>
              </a:tblGrid>
              <a:tr h="687046">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No.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Fields 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Data Type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Contains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Description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78652">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err="1">
                          <a:latin typeface="+mn-lt"/>
                          <a:ea typeface="Calibri"/>
                          <a:cs typeface="Shruti"/>
                        </a:rPr>
                        <a:t>position_id</a:t>
                      </a:r>
                      <a:endParaRPr lang="en-US" sz="1800" dirty="0">
                        <a:latin typeface="+mn-lt"/>
                        <a:ea typeface="Calibri"/>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PRIMARY KEY,</a:t>
                      </a:r>
                    </a:p>
                    <a:p>
                      <a:pPr marL="0" marR="0" algn="ctr">
                        <a:lnSpc>
                          <a:spcPct val="100000"/>
                        </a:lnSpc>
                        <a:spcBef>
                          <a:spcPts val="0"/>
                        </a:spcBef>
                        <a:spcAft>
                          <a:spcPts val="0"/>
                        </a:spcAft>
                        <a:tabLst>
                          <a:tab pos="2529205" algn="l"/>
                        </a:tabLst>
                      </a:pPr>
                      <a:r>
                        <a:rPr lang="en-US" sz="1800">
                          <a:latin typeface="+mn-lt"/>
                          <a:ea typeface="Calibri"/>
                          <a:cs typeface="Shruti"/>
                        </a:rPr>
                        <a:t>NOT 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contain position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06768">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position_name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VARCHAR(255)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position 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9" name="Picture 8"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0" name="Picture 9" descr="lms-home-247-icon.png"/>
          <p:cNvPicPr>
            <a:picLocks noChangeAspect="1"/>
          </p:cNvPicPr>
          <p:nvPr/>
        </p:nvPicPr>
        <p:blipFill>
          <a:blip r:embed="rId4">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5074918"/>
            <a:ext cx="10113264" cy="1183991"/>
          </a:xfrm>
        </p:spPr>
        <p:txBody>
          <a:bodyPr/>
          <a:lstStyle/>
          <a:p>
            <a:pPr>
              <a:lnSpc>
                <a:spcPct val="100000"/>
              </a:lnSpc>
            </a:pPr>
            <a:r>
              <a:rPr lang="en-US" sz="2400" u="sng" dirty="0"/>
              <a:t>Table Name : </a:t>
            </a:r>
            <a:r>
              <a:rPr lang="en-US" sz="2400" u="sng" dirty="0" err="1"/>
              <a:t>t_lms_user_position</a:t>
            </a:r>
            <a:r>
              <a:rPr lang="en-US" sz="2400" dirty="0"/>
              <a:t/>
            </a:r>
            <a:br>
              <a:rPr lang="en-US" sz="2400" dirty="0"/>
            </a:br>
            <a:r>
              <a:rPr lang="en-US" sz="2400" dirty="0"/>
              <a:t>Description: </a:t>
            </a:r>
            <a:r>
              <a:rPr lang="en-US" sz="2400" dirty="0" err="1"/>
              <a:t>t_lms_user_position</a:t>
            </a:r>
            <a:r>
              <a:rPr lang="en-US" sz="2400" dirty="0"/>
              <a:t> table contain the details of assigned position to user in company</a:t>
            </a:r>
            <a:r>
              <a:rPr lang="en-US" sz="2400" dirty="0" smtClean="0"/>
              <a:t>.</a:t>
            </a:r>
            <a:endParaRPr lang="en-US" sz="2400"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21</a:t>
            </a:fld>
            <a:endParaRPr lang="en-US" dirty="0"/>
          </a:p>
        </p:txBody>
      </p:sp>
      <p:graphicFrame>
        <p:nvGraphicFramePr>
          <p:cNvPr id="8" name="Table 7"/>
          <p:cNvGraphicFramePr>
            <a:graphicFrameLocks noGrp="1"/>
          </p:cNvGraphicFramePr>
          <p:nvPr/>
        </p:nvGraphicFramePr>
        <p:xfrm>
          <a:off x="1155677" y="497401"/>
          <a:ext cx="9974777" cy="2255258"/>
        </p:xfrm>
        <a:graphic>
          <a:graphicData uri="http://schemas.openxmlformats.org/drawingml/2006/table">
            <a:tbl>
              <a:tblPr/>
              <a:tblGrid>
                <a:gridCol w="640093"/>
                <a:gridCol w="2578151"/>
                <a:gridCol w="2044740"/>
                <a:gridCol w="2133642"/>
                <a:gridCol w="2578151"/>
              </a:tblGrid>
              <a:tr h="700778">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Fields 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Data Type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Contains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Description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7724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user_id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FOREIGN KEY,</a:t>
                      </a:r>
                    </a:p>
                    <a:p>
                      <a:pPr marL="0" marR="0" algn="ctr">
                        <a:lnSpc>
                          <a:spcPct val="100000"/>
                        </a:lnSpc>
                        <a:spcBef>
                          <a:spcPts val="0"/>
                        </a:spcBef>
                        <a:spcAft>
                          <a:spcPts val="0"/>
                        </a:spcAft>
                        <a:tabLst>
                          <a:tab pos="2529205" algn="l"/>
                        </a:tabLst>
                      </a:pPr>
                      <a:r>
                        <a:rPr lang="en-US" sz="1800">
                          <a:latin typeface="+mn-lt"/>
                          <a:ea typeface="Calibri"/>
                          <a:cs typeface="Shruti"/>
                        </a:rPr>
                        <a:t>NOT 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user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7724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position_id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FOREIGN KEY,</a:t>
                      </a:r>
                    </a:p>
                    <a:p>
                      <a:pPr marL="0" marR="0" algn="ctr">
                        <a:lnSpc>
                          <a:spcPct val="100000"/>
                        </a:lnSpc>
                        <a:spcBef>
                          <a:spcPts val="0"/>
                        </a:spcBef>
                        <a:spcAft>
                          <a:spcPts val="0"/>
                        </a:spcAft>
                        <a:tabLst>
                          <a:tab pos="2529205" algn="l"/>
                        </a:tabLst>
                      </a:pPr>
                      <a:r>
                        <a:rPr lang="en-US" sz="1800">
                          <a:latin typeface="+mn-lt"/>
                          <a:ea typeface="Calibri"/>
                          <a:cs typeface="Shruti"/>
                        </a:rPr>
                        <a:t>NOT 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position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9" name="Picture 8"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0" name="Picture 9" descr="lms-home-247-icon.png"/>
          <p:cNvPicPr>
            <a:picLocks noChangeAspect="1"/>
          </p:cNvPicPr>
          <p:nvPr/>
        </p:nvPicPr>
        <p:blipFill>
          <a:blip r:embed="rId4">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sz="2400" u="sng" dirty="0"/>
              <a:t>Table Name : </a:t>
            </a:r>
            <a:r>
              <a:rPr lang="en-US" sz="2400" u="sng" dirty="0" err="1"/>
              <a:t>t_lms_leave_type</a:t>
            </a:r>
            <a:r>
              <a:rPr lang="en-US" sz="2400" dirty="0"/>
              <a:t/>
            </a:r>
            <a:br>
              <a:rPr lang="en-US" sz="2400" dirty="0"/>
            </a:br>
            <a:r>
              <a:rPr lang="en-US" sz="2400" dirty="0"/>
              <a:t>Description: </a:t>
            </a:r>
            <a:r>
              <a:rPr lang="en-US" sz="2400" dirty="0" err="1"/>
              <a:t>t_lms_leave_type</a:t>
            </a:r>
            <a:r>
              <a:rPr lang="en-US" sz="2400" dirty="0"/>
              <a:t> table contain the different type of leaves</a:t>
            </a:r>
            <a:r>
              <a:rPr lang="en-US" sz="2400" dirty="0" smtClean="0"/>
              <a:t>.</a:t>
            </a:r>
            <a:endParaRPr lang="en-US" sz="2400"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22</a:t>
            </a:fld>
            <a:endParaRPr lang="en-US" dirty="0"/>
          </a:p>
        </p:txBody>
      </p:sp>
      <p:pic>
        <p:nvPicPr>
          <p:cNvPr id="8" name="Picture 7"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9" name="Picture 8" descr="lms-home-247-icon.png"/>
          <p:cNvPicPr>
            <a:picLocks noChangeAspect="1"/>
          </p:cNvPicPr>
          <p:nvPr/>
        </p:nvPicPr>
        <p:blipFill>
          <a:blip r:embed="rId4">
            <a:duotone>
              <a:schemeClr val="accent6">
                <a:shade val="45000"/>
                <a:satMod val="135000"/>
              </a:schemeClr>
              <a:prstClr val="white"/>
            </a:duotone>
          </a:blip>
          <a:stretch>
            <a:fillRect/>
          </a:stretch>
        </p:blipFill>
        <p:spPr>
          <a:xfrm>
            <a:off x="11133338" y="4422345"/>
            <a:ext cx="298569" cy="476440"/>
          </a:xfrm>
          <a:prstGeom prst="rect">
            <a:avLst/>
          </a:prstGeom>
        </p:spPr>
      </p:pic>
      <p:graphicFrame>
        <p:nvGraphicFramePr>
          <p:cNvPr id="10" name="Table 9"/>
          <p:cNvGraphicFramePr>
            <a:graphicFrameLocks noGrp="1"/>
          </p:cNvGraphicFramePr>
          <p:nvPr/>
        </p:nvGraphicFramePr>
        <p:xfrm>
          <a:off x="1143820" y="511590"/>
          <a:ext cx="9986635" cy="3565373"/>
        </p:xfrm>
        <a:graphic>
          <a:graphicData uri="http://schemas.openxmlformats.org/drawingml/2006/table">
            <a:tbl>
              <a:tblPr/>
              <a:tblGrid>
                <a:gridCol w="635193"/>
                <a:gridCol w="2734855"/>
                <a:gridCol w="1940866"/>
                <a:gridCol w="1940866"/>
                <a:gridCol w="2734855"/>
              </a:tblGrid>
              <a:tr h="639293">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No.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Fields 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Data Type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Contains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Description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leave_type_id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PRIMARY KEY,</a:t>
                      </a:r>
                    </a:p>
                    <a:p>
                      <a:pPr marL="0" marR="0" algn="ctr">
                        <a:lnSpc>
                          <a:spcPct val="100000"/>
                        </a:lnSpc>
                        <a:spcBef>
                          <a:spcPts val="0"/>
                        </a:spcBef>
                        <a:spcAft>
                          <a:spcPts val="0"/>
                        </a:spcAft>
                        <a:tabLst>
                          <a:tab pos="2529205" algn="l"/>
                        </a:tabLst>
                      </a:pPr>
                      <a:r>
                        <a:rPr lang="en-US" sz="1800">
                          <a:latin typeface="+mn-lt"/>
                          <a:ea typeface="Calibri"/>
                          <a:cs typeface="Shruti"/>
                        </a:rPr>
                        <a:t>NOT 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leave type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leave_type_name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VARCHAR(255)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leave type 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no_of_allocated_days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FLOAT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no of day allocated to leave type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leave_allocation_category</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VARCHAR(255)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category of leave allocation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5074919"/>
            <a:ext cx="10113264" cy="1120929"/>
          </a:xfrm>
        </p:spPr>
        <p:txBody>
          <a:bodyPr/>
          <a:lstStyle/>
          <a:p>
            <a:pPr>
              <a:lnSpc>
                <a:spcPct val="100000"/>
              </a:lnSpc>
            </a:pPr>
            <a:r>
              <a:rPr lang="en-US" sz="2400" u="sng" dirty="0"/>
              <a:t>Table Name : </a:t>
            </a:r>
            <a:r>
              <a:rPr lang="en-US" sz="2400" u="sng" dirty="0" err="1"/>
              <a:t>t_lms_position_leave</a:t>
            </a:r>
            <a:r>
              <a:rPr lang="en-US" sz="2400" dirty="0"/>
              <a:t/>
            </a:r>
            <a:br>
              <a:rPr lang="en-US" sz="2400" dirty="0"/>
            </a:br>
            <a:r>
              <a:rPr lang="en-US" sz="2400" dirty="0"/>
              <a:t>Description: </a:t>
            </a:r>
            <a:r>
              <a:rPr lang="en-US" sz="2400" dirty="0" err="1"/>
              <a:t>t_lms_position_leave</a:t>
            </a:r>
            <a:r>
              <a:rPr lang="en-US" sz="2400" dirty="0"/>
              <a:t> table contain the detail of allowed leave to different position user</a:t>
            </a:r>
            <a:r>
              <a:rPr lang="en-US" sz="2400" dirty="0" smtClean="0"/>
              <a:t>.</a:t>
            </a:r>
            <a:endParaRPr lang="en-US" sz="2400"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23</a:t>
            </a:fld>
            <a:endParaRPr lang="en-US" dirty="0"/>
          </a:p>
        </p:txBody>
      </p:sp>
      <p:pic>
        <p:nvPicPr>
          <p:cNvPr id="8" name="Picture 7"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9" name="Picture 8" descr="lms-home-247-icon.png"/>
          <p:cNvPicPr>
            <a:picLocks noChangeAspect="1"/>
          </p:cNvPicPr>
          <p:nvPr/>
        </p:nvPicPr>
        <p:blipFill>
          <a:blip r:embed="rId4">
            <a:duotone>
              <a:schemeClr val="accent6">
                <a:shade val="45000"/>
                <a:satMod val="135000"/>
              </a:schemeClr>
              <a:prstClr val="white"/>
            </a:duotone>
          </a:blip>
          <a:stretch>
            <a:fillRect/>
          </a:stretch>
        </p:blipFill>
        <p:spPr>
          <a:xfrm>
            <a:off x="11133338" y="4422345"/>
            <a:ext cx="298569" cy="476440"/>
          </a:xfrm>
          <a:prstGeom prst="rect">
            <a:avLst/>
          </a:prstGeom>
        </p:spPr>
      </p:pic>
      <p:graphicFrame>
        <p:nvGraphicFramePr>
          <p:cNvPr id="10" name="Table 9"/>
          <p:cNvGraphicFramePr>
            <a:graphicFrameLocks noGrp="1"/>
          </p:cNvGraphicFramePr>
          <p:nvPr/>
        </p:nvGraphicFramePr>
        <p:xfrm>
          <a:off x="1096525" y="560463"/>
          <a:ext cx="10049696" cy="2172464"/>
        </p:xfrm>
        <a:graphic>
          <a:graphicData uri="http://schemas.openxmlformats.org/drawingml/2006/table">
            <a:tbl>
              <a:tblPr/>
              <a:tblGrid>
                <a:gridCol w="639204"/>
                <a:gridCol w="2485791"/>
                <a:gridCol w="2130677"/>
                <a:gridCol w="1953121"/>
                <a:gridCol w="2840903"/>
              </a:tblGrid>
              <a:tr h="653482">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No.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Fields 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Data Type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Contains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Description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59491">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position_id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FOREIGN KEY,</a:t>
                      </a:r>
                    </a:p>
                    <a:p>
                      <a:pPr marL="0" marR="0" algn="ctr">
                        <a:lnSpc>
                          <a:spcPct val="100000"/>
                        </a:lnSpc>
                        <a:spcBef>
                          <a:spcPts val="0"/>
                        </a:spcBef>
                        <a:spcAft>
                          <a:spcPts val="0"/>
                        </a:spcAft>
                        <a:tabLst>
                          <a:tab pos="2529205" algn="l"/>
                        </a:tabLst>
                      </a:pPr>
                      <a:r>
                        <a:rPr lang="en-US" sz="1800">
                          <a:latin typeface="+mn-lt"/>
                          <a:ea typeface="Calibri"/>
                          <a:cs typeface="Shruti"/>
                        </a:rPr>
                        <a:t>NOT 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position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59491">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leave_type_id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FOREIGN KEY,</a:t>
                      </a:r>
                    </a:p>
                    <a:p>
                      <a:pPr marL="0" marR="0" algn="ctr">
                        <a:lnSpc>
                          <a:spcPct val="100000"/>
                        </a:lnSpc>
                        <a:spcBef>
                          <a:spcPts val="0"/>
                        </a:spcBef>
                        <a:spcAft>
                          <a:spcPts val="0"/>
                        </a:spcAft>
                        <a:tabLst>
                          <a:tab pos="2529205" algn="l"/>
                        </a:tabLst>
                      </a:pPr>
                      <a:r>
                        <a:rPr lang="en-US" sz="1800">
                          <a:latin typeface="+mn-lt"/>
                          <a:ea typeface="Calibri"/>
                          <a:cs typeface="Shruti"/>
                        </a:rPr>
                        <a:t>NOT 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leave type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sz="2400" u="sng" dirty="0"/>
              <a:t>Table Name : </a:t>
            </a:r>
            <a:r>
              <a:rPr lang="en-US" sz="2400" u="sng" dirty="0" err="1"/>
              <a:t>t_lms_leave_incur</a:t>
            </a:r>
            <a:r>
              <a:rPr lang="en-US" sz="2400" dirty="0"/>
              <a:t/>
            </a:r>
            <a:br>
              <a:rPr lang="en-US" sz="2400" dirty="0"/>
            </a:br>
            <a:r>
              <a:rPr lang="en-US" sz="2400" dirty="0"/>
              <a:t>Description: </a:t>
            </a:r>
            <a:r>
              <a:rPr lang="en-US" sz="2400" dirty="0" err="1"/>
              <a:t>t_lms_leave_incur</a:t>
            </a:r>
            <a:r>
              <a:rPr lang="en-US" sz="2400" dirty="0"/>
              <a:t> table contain the monthly increase applicable leave</a:t>
            </a:r>
            <a:r>
              <a:rPr lang="en-US" sz="2400" dirty="0" smtClean="0"/>
              <a:t>.</a:t>
            </a:r>
            <a:endParaRPr lang="en-US" sz="2400"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24</a:t>
            </a:fld>
            <a:endParaRPr lang="en-US" dirty="0"/>
          </a:p>
        </p:txBody>
      </p:sp>
      <p:pic>
        <p:nvPicPr>
          <p:cNvPr id="8" name="Picture 7"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9" name="Picture 8" descr="lms-home-247-icon.png"/>
          <p:cNvPicPr>
            <a:picLocks noChangeAspect="1"/>
          </p:cNvPicPr>
          <p:nvPr/>
        </p:nvPicPr>
        <p:blipFill>
          <a:blip r:embed="rId4">
            <a:duotone>
              <a:schemeClr val="accent6">
                <a:shade val="45000"/>
                <a:satMod val="135000"/>
              </a:schemeClr>
              <a:prstClr val="white"/>
            </a:duotone>
          </a:blip>
          <a:stretch>
            <a:fillRect/>
          </a:stretch>
        </p:blipFill>
        <p:spPr>
          <a:xfrm>
            <a:off x="11133338" y="4422345"/>
            <a:ext cx="298569" cy="476440"/>
          </a:xfrm>
          <a:prstGeom prst="rect">
            <a:avLst/>
          </a:prstGeom>
        </p:spPr>
      </p:pic>
      <p:graphicFrame>
        <p:nvGraphicFramePr>
          <p:cNvPr id="10" name="Table 9"/>
          <p:cNvGraphicFramePr>
            <a:graphicFrameLocks noGrp="1"/>
          </p:cNvGraphicFramePr>
          <p:nvPr/>
        </p:nvGraphicFramePr>
        <p:xfrm>
          <a:off x="1080758" y="201801"/>
          <a:ext cx="9986634" cy="4646098"/>
        </p:xfrm>
        <a:graphic>
          <a:graphicData uri="http://schemas.openxmlformats.org/drawingml/2006/table">
            <a:tbl>
              <a:tblPr/>
              <a:tblGrid>
                <a:gridCol w="635192"/>
                <a:gridCol w="2470192"/>
                <a:gridCol w="1946644"/>
                <a:gridCol w="1781504"/>
                <a:gridCol w="3153102"/>
              </a:tblGrid>
              <a:tr h="577018">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No.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Fields 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Data Type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Contains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Description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2965">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err="1">
                          <a:latin typeface="+mn-lt"/>
                          <a:ea typeface="Calibri"/>
                          <a:cs typeface="Shruti"/>
                        </a:rPr>
                        <a:t>leave_incur_id</a:t>
                      </a:r>
                      <a:endParaRPr lang="en-US" sz="1800" dirty="0">
                        <a:latin typeface="+mn-lt"/>
                        <a:ea typeface="Calibri"/>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PRIMARY KEY,</a:t>
                      </a:r>
                    </a:p>
                    <a:p>
                      <a:pPr marL="0" marR="0" algn="ctr">
                        <a:lnSpc>
                          <a:spcPct val="100000"/>
                        </a:lnSpc>
                        <a:spcBef>
                          <a:spcPts val="0"/>
                        </a:spcBef>
                        <a:spcAft>
                          <a:spcPts val="0"/>
                        </a:spcAft>
                        <a:tabLst>
                          <a:tab pos="2529205" algn="l"/>
                        </a:tabLst>
                      </a:pPr>
                      <a:r>
                        <a:rPr lang="en-US" sz="1800">
                          <a:latin typeface="+mn-lt"/>
                          <a:ea typeface="Calibri"/>
                          <a:cs typeface="Shruti"/>
                        </a:rPr>
                        <a:t>NOT 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leave incur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4632">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err="1">
                          <a:latin typeface="+mn-lt"/>
                          <a:ea typeface="Calibri"/>
                          <a:cs typeface="Shruti"/>
                        </a:rPr>
                        <a:t>leave_incur_date</a:t>
                      </a:r>
                      <a:endParaRPr lang="en-US" sz="1800" dirty="0">
                        <a:latin typeface="+mn-lt"/>
                        <a:ea typeface="Calibri"/>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DATETIME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leave incur date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4632">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err="1">
                          <a:latin typeface="+mn-lt"/>
                          <a:ea typeface="Calibri"/>
                          <a:cs typeface="Shruti"/>
                        </a:rPr>
                        <a:t>leave_incur_type</a:t>
                      </a:r>
                      <a:endParaRPr lang="en-US" sz="1800" dirty="0">
                        <a:latin typeface="+mn-lt"/>
                        <a:ea typeface="Calibri"/>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VARCHAR(255)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leave incur type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4632">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description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VARCHAR(255)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leave incur description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4632">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err="1">
                          <a:latin typeface="+mn-lt"/>
                          <a:ea typeface="Calibri"/>
                          <a:cs typeface="Shruti"/>
                        </a:rPr>
                        <a:t>system_generated_date</a:t>
                      </a:r>
                      <a:endParaRPr lang="en-US" sz="1800" dirty="0">
                        <a:latin typeface="+mn-lt"/>
                        <a:ea typeface="Calibri"/>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DATETIME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system generated date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4632">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err="1">
                          <a:latin typeface="+mn-lt"/>
                          <a:ea typeface="Calibri"/>
                          <a:cs typeface="Shruti"/>
                        </a:rPr>
                        <a:t>total_days_of_credit</a:t>
                      </a:r>
                      <a:endParaRPr lang="en-US" sz="1800" dirty="0">
                        <a:latin typeface="+mn-lt"/>
                        <a:ea typeface="Calibri"/>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FLOAT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no of day are credited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1434">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financial_period_id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FOREIGN KEY,</a:t>
                      </a:r>
                    </a:p>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financial period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9994">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user_id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FOREIGN KEY,</a:t>
                      </a:r>
                    </a:p>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user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5074919"/>
            <a:ext cx="10113264" cy="1105163"/>
          </a:xfrm>
        </p:spPr>
        <p:txBody>
          <a:bodyPr/>
          <a:lstStyle/>
          <a:p>
            <a:pPr>
              <a:lnSpc>
                <a:spcPct val="100000"/>
              </a:lnSpc>
            </a:pPr>
            <a:r>
              <a:rPr lang="en-US" sz="2400" u="sng" dirty="0"/>
              <a:t>Table Name : </a:t>
            </a:r>
            <a:r>
              <a:rPr lang="en-US" sz="2400" u="sng" dirty="0" err="1"/>
              <a:t>t_lms_leave_deduct</a:t>
            </a:r>
            <a:r>
              <a:rPr lang="en-US" sz="2400" dirty="0"/>
              <a:t/>
            </a:r>
            <a:br>
              <a:rPr lang="en-US" sz="2400" dirty="0"/>
            </a:br>
            <a:r>
              <a:rPr lang="en-US" sz="2400" dirty="0"/>
              <a:t>Description: </a:t>
            </a:r>
            <a:r>
              <a:rPr lang="en-US" sz="2400" dirty="0" err="1"/>
              <a:t>t_lms_leave_deduct</a:t>
            </a:r>
            <a:r>
              <a:rPr lang="en-US" sz="2400" dirty="0"/>
              <a:t> table contain the deducted approved no of leave from total credited user leave</a:t>
            </a:r>
            <a:r>
              <a:rPr lang="en-US" sz="2400" dirty="0" smtClean="0"/>
              <a:t>.</a:t>
            </a:r>
            <a:endParaRPr lang="en-US" sz="2400"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25</a:t>
            </a:fld>
            <a:endParaRPr lang="en-US" dirty="0"/>
          </a:p>
        </p:txBody>
      </p:sp>
      <p:graphicFrame>
        <p:nvGraphicFramePr>
          <p:cNvPr id="8" name="Table 7"/>
          <p:cNvGraphicFramePr>
            <a:graphicFrameLocks noGrp="1"/>
          </p:cNvGraphicFramePr>
          <p:nvPr/>
        </p:nvGraphicFramePr>
        <p:xfrm>
          <a:off x="1128055" y="197851"/>
          <a:ext cx="9955105" cy="4663440"/>
        </p:xfrm>
        <a:graphic>
          <a:graphicData uri="http://schemas.openxmlformats.org/drawingml/2006/table">
            <a:tbl>
              <a:tblPr/>
              <a:tblGrid>
                <a:gridCol w="633187"/>
                <a:gridCol w="2462393"/>
                <a:gridCol w="1934738"/>
                <a:gridCol w="1677089"/>
                <a:gridCol w="3247698"/>
              </a:tblGrid>
              <a:tr h="548640">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No.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Fields 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Data Type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Contains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Description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err="1">
                          <a:latin typeface="+mn-lt"/>
                          <a:ea typeface="Calibri"/>
                          <a:cs typeface="Shruti"/>
                        </a:rPr>
                        <a:t>leave_deduct_id</a:t>
                      </a:r>
                      <a:endParaRPr lang="en-US" sz="1800" dirty="0">
                        <a:latin typeface="+mn-lt"/>
                        <a:ea typeface="Calibri"/>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PRIMARY KEY,</a:t>
                      </a:r>
                    </a:p>
                    <a:p>
                      <a:pPr marL="0" marR="0" algn="ctr">
                        <a:lnSpc>
                          <a:spcPct val="100000"/>
                        </a:lnSpc>
                        <a:spcBef>
                          <a:spcPts val="0"/>
                        </a:spcBef>
                        <a:spcAft>
                          <a:spcPts val="0"/>
                        </a:spcAft>
                        <a:tabLst>
                          <a:tab pos="2529205" algn="l"/>
                        </a:tabLst>
                      </a:pPr>
                      <a:r>
                        <a:rPr lang="en-US" sz="1800">
                          <a:latin typeface="+mn-lt"/>
                          <a:ea typeface="Calibri"/>
                          <a:cs typeface="Shruti"/>
                        </a:rPr>
                        <a:t>NOT 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leave deduct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720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err="1">
                          <a:latin typeface="+mn-lt"/>
                          <a:ea typeface="Calibri"/>
                          <a:cs typeface="Shruti"/>
                        </a:rPr>
                        <a:t>leave_debit_date</a:t>
                      </a:r>
                      <a:endParaRPr lang="en-US" sz="1800" dirty="0">
                        <a:latin typeface="+mn-lt"/>
                        <a:ea typeface="Calibri"/>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DATETIME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leave debit date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720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err="1">
                          <a:latin typeface="+mn-lt"/>
                          <a:ea typeface="Calibri"/>
                          <a:cs typeface="Shruti"/>
                        </a:rPr>
                        <a:t>leave_debit_type</a:t>
                      </a:r>
                      <a:endParaRPr lang="en-US" sz="1800" dirty="0">
                        <a:latin typeface="+mn-lt"/>
                        <a:ea typeface="Calibri"/>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VARCHAR(255)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debited leave type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720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err="1">
                          <a:latin typeface="+mn-lt"/>
                          <a:ea typeface="Calibri"/>
                          <a:cs typeface="Shruti"/>
                        </a:rPr>
                        <a:t>total_days_of_debit</a:t>
                      </a:r>
                      <a:endParaRPr lang="en-US" sz="1800" dirty="0">
                        <a:latin typeface="+mn-lt"/>
                        <a:ea typeface="Calibri"/>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FLOAT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total debited leave days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err="1">
                          <a:latin typeface="+mn-lt"/>
                          <a:ea typeface="Calibri"/>
                          <a:cs typeface="Shruti"/>
                        </a:rPr>
                        <a:t>financial_period_id</a:t>
                      </a:r>
                      <a:endParaRPr lang="en-US" sz="1800" dirty="0">
                        <a:latin typeface="+mn-lt"/>
                        <a:ea typeface="Calibri"/>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FOREIGN KEY,</a:t>
                      </a:r>
                    </a:p>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financial period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err="1">
                          <a:latin typeface="+mn-lt"/>
                          <a:ea typeface="Calibri"/>
                          <a:cs typeface="Shruti"/>
                        </a:rPr>
                        <a:t>leave_incur_id</a:t>
                      </a:r>
                      <a:endParaRPr lang="en-US" sz="1800" dirty="0">
                        <a:latin typeface="+mn-lt"/>
                        <a:ea typeface="Calibri"/>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FOREIGN KEY,</a:t>
                      </a:r>
                    </a:p>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leave incur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err="1">
                          <a:latin typeface="+mn-lt"/>
                          <a:ea typeface="Calibri"/>
                          <a:cs typeface="Shruti"/>
                        </a:rPr>
                        <a:t>leave_request_id</a:t>
                      </a:r>
                      <a:endParaRPr lang="en-US" sz="1800" dirty="0">
                        <a:latin typeface="+mn-lt"/>
                        <a:ea typeface="Calibri"/>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FOREIGN KEY,</a:t>
                      </a:r>
                    </a:p>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leave request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err="1">
                          <a:latin typeface="+mn-lt"/>
                          <a:ea typeface="Calibri"/>
                          <a:cs typeface="Shruti"/>
                        </a:rPr>
                        <a:t>user_id</a:t>
                      </a:r>
                      <a:endParaRPr lang="en-US" sz="1800" dirty="0">
                        <a:latin typeface="+mn-lt"/>
                        <a:ea typeface="Calibri"/>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FOREIGN KEY,</a:t>
                      </a:r>
                    </a:p>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user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9" name="Picture 8"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0" name="Picture 9" descr="lms-home-247-icon.png"/>
          <p:cNvPicPr>
            <a:picLocks noChangeAspect="1"/>
          </p:cNvPicPr>
          <p:nvPr/>
        </p:nvPicPr>
        <p:blipFill>
          <a:blip r:embed="rId4">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5074919"/>
            <a:ext cx="10113264" cy="1136695"/>
          </a:xfrm>
        </p:spPr>
        <p:txBody>
          <a:bodyPr/>
          <a:lstStyle/>
          <a:p>
            <a:pPr>
              <a:lnSpc>
                <a:spcPct val="100000"/>
              </a:lnSpc>
            </a:pPr>
            <a:r>
              <a:rPr lang="en-US" sz="2400" u="sng" dirty="0"/>
              <a:t>Table Name : </a:t>
            </a:r>
            <a:r>
              <a:rPr lang="en-US" sz="2400" u="sng" dirty="0" err="1"/>
              <a:t>t_lms_carry_forward_audit</a:t>
            </a:r>
            <a:r>
              <a:rPr lang="en-US" sz="2400" dirty="0"/>
              <a:t/>
            </a:r>
            <a:br>
              <a:rPr lang="en-US" sz="2400" dirty="0"/>
            </a:br>
            <a:r>
              <a:rPr lang="en-US" sz="2400" dirty="0"/>
              <a:t>Description: </a:t>
            </a:r>
            <a:r>
              <a:rPr lang="en-US" sz="2400" dirty="0" err="1"/>
              <a:t>t_lms_carry_forward_audit</a:t>
            </a:r>
            <a:r>
              <a:rPr lang="en-US" sz="2400" dirty="0"/>
              <a:t> table contain detail of leave carry forward in next month/year.</a:t>
            </a:r>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26</a:t>
            </a:fld>
            <a:endParaRPr lang="en-US" dirty="0"/>
          </a:p>
        </p:txBody>
      </p:sp>
      <p:pic>
        <p:nvPicPr>
          <p:cNvPr id="8" name="Picture 7"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9" name="Picture 8" descr="lms-home-247-icon.png"/>
          <p:cNvPicPr>
            <a:picLocks noChangeAspect="1"/>
          </p:cNvPicPr>
          <p:nvPr/>
        </p:nvPicPr>
        <p:blipFill>
          <a:blip r:embed="rId4">
            <a:duotone>
              <a:schemeClr val="accent6">
                <a:shade val="45000"/>
                <a:satMod val="135000"/>
              </a:schemeClr>
              <a:prstClr val="white"/>
            </a:duotone>
          </a:blip>
          <a:stretch>
            <a:fillRect/>
          </a:stretch>
        </p:blipFill>
        <p:spPr>
          <a:xfrm>
            <a:off x="11133338" y="4422345"/>
            <a:ext cx="298569" cy="476440"/>
          </a:xfrm>
          <a:prstGeom prst="rect">
            <a:avLst/>
          </a:prstGeom>
        </p:spPr>
      </p:pic>
      <p:graphicFrame>
        <p:nvGraphicFramePr>
          <p:cNvPr id="11" name="Table 10"/>
          <p:cNvGraphicFramePr>
            <a:graphicFrameLocks noGrp="1"/>
          </p:cNvGraphicFramePr>
          <p:nvPr/>
        </p:nvGraphicFramePr>
        <p:xfrm>
          <a:off x="1124615" y="325530"/>
          <a:ext cx="9958542" cy="4229469"/>
        </p:xfrm>
        <a:graphic>
          <a:graphicData uri="http://schemas.openxmlformats.org/drawingml/2006/table">
            <a:tbl>
              <a:tblPr/>
              <a:tblGrid>
                <a:gridCol w="634384"/>
                <a:gridCol w="2561969"/>
                <a:gridCol w="1923676"/>
                <a:gridCol w="1622349"/>
                <a:gridCol w="3216164"/>
              </a:tblGrid>
              <a:tr h="573105">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No.</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Fields Name</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Data Type</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Contains</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Description</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9394">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1.</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carry_forward_id</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PRIMARY KEY,</a:t>
                      </a:r>
                    </a:p>
                    <a:p>
                      <a:pPr marL="0" marR="0" algn="ctr">
                        <a:lnSpc>
                          <a:spcPct val="100000"/>
                        </a:lnSpc>
                        <a:spcBef>
                          <a:spcPts val="0"/>
                        </a:spcBef>
                        <a:spcAft>
                          <a:spcPts val="0"/>
                        </a:spcAft>
                        <a:tabLst>
                          <a:tab pos="2529205" algn="l"/>
                        </a:tabLst>
                      </a:pPr>
                      <a:r>
                        <a:rPr lang="en-US" sz="1800">
                          <a:latin typeface="+mn-lt"/>
                          <a:ea typeface="Calibri"/>
                          <a:cs typeface="Shruti"/>
                        </a:rPr>
                        <a:t>NOT NULL</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contain carry forward id</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9394">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2.</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current_year_leave_ balance</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FLOAT</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NULL</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total no of applicable leave balance</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9394">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3.</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eligible_carry_forward</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FLOAT</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Yearly Leave Incur</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9394">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4.</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elapsable_carry_forward</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FLOAT</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Leave </a:t>
                      </a:r>
                      <a:r>
                        <a:rPr lang="en-US" sz="1800" dirty="0" err="1">
                          <a:latin typeface="+mn-lt"/>
                          <a:ea typeface="Calibri"/>
                          <a:cs typeface="Shruti"/>
                        </a:rPr>
                        <a:t>elapsable</a:t>
                      </a:r>
                      <a:r>
                        <a:rPr lang="en-US" sz="1800" dirty="0">
                          <a:latin typeface="+mn-lt"/>
                          <a:ea typeface="Calibri"/>
                          <a:cs typeface="Shruti"/>
                        </a:rPr>
                        <a:t> while leave balance greater than 42</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9394">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5.</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previous_year_leave_ balance</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FLOAT</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total no of leave of previous year</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9394">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6.</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total_credit_after_carry_ forward</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FLOAT</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total credited leave after carry forward</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sz="2400" dirty="0" smtClean="0"/>
              <a:t>Continue…</a:t>
            </a:r>
            <a:r>
              <a:rPr lang="en-US" sz="2400" u="sng" dirty="0" smtClean="0"/>
              <a:t/>
            </a:r>
            <a:br>
              <a:rPr lang="en-US" sz="2400" u="sng" dirty="0" smtClean="0"/>
            </a:br>
            <a:r>
              <a:rPr lang="en-US" sz="2400" u="sng" dirty="0" smtClean="0"/>
              <a:t>Table Name : </a:t>
            </a:r>
            <a:r>
              <a:rPr lang="en-US" sz="2400" u="sng" dirty="0" err="1" smtClean="0"/>
              <a:t>t_lms_carry_forward_audit</a:t>
            </a:r>
            <a:r>
              <a:rPr lang="en-US" sz="2400" u="sng" dirty="0" smtClean="0"/>
              <a:t> </a:t>
            </a:r>
            <a:endParaRPr lang="en-US" sz="2400"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27</a:t>
            </a:fld>
            <a:endParaRPr lang="en-US" dirty="0"/>
          </a:p>
        </p:txBody>
      </p:sp>
      <p:graphicFrame>
        <p:nvGraphicFramePr>
          <p:cNvPr id="8" name="Table 7"/>
          <p:cNvGraphicFramePr>
            <a:graphicFrameLocks noGrp="1"/>
          </p:cNvGraphicFramePr>
          <p:nvPr/>
        </p:nvGraphicFramePr>
        <p:xfrm>
          <a:off x="1133365" y="388593"/>
          <a:ext cx="9860089" cy="3026664"/>
        </p:xfrm>
        <a:graphic>
          <a:graphicData uri="http://schemas.openxmlformats.org/drawingml/2006/table">
            <a:tbl>
              <a:tblPr/>
              <a:tblGrid>
                <a:gridCol w="634384"/>
                <a:gridCol w="2561969"/>
                <a:gridCol w="1923676"/>
                <a:gridCol w="1618488"/>
                <a:gridCol w="3121572"/>
              </a:tblGrid>
              <a:tr h="576072">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No.</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Fields Name</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Data Type</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Contains</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Description</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12648">
                <a:tc>
                  <a:txBody>
                    <a:bodyPr/>
                    <a:lstStyle/>
                    <a:p>
                      <a:pPr marL="0" marR="0" algn="ctr">
                        <a:lnSpc>
                          <a:spcPct val="100000"/>
                        </a:lnSpc>
                        <a:spcBef>
                          <a:spcPts val="0"/>
                        </a:spcBef>
                        <a:spcAft>
                          <a:spcPts val="0"/>
                        </a:spcAft>
                        <a:tabLst>
                          <a:tab pos="2529205" algn="l"/>
                        </a:tabLst>
                      </a:pPr>
                      <a:r>
                        <a:rPr lang="en-US" sz="1800" dirty="0" smtClean="0">
                          <a:latin typeface="+mn-lt"/>
                          <a:ea typeface="Calibri"/>
                          <a:cs typeface="Shruti"/>
                        </a:rPr>
                        <a:t>7</a:t>
                      </a:r>
                      <a:r>
                        <a:rPr lang="en-US" sz="1800" dirty="0">
                          <a:latin typeface="+mn-lt"/>
                          <a:ea typeface="Calibri"/>
                          <a:cs typeface="Shruti"/>
                        </a:rPr>
                        <a:t>.</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current_year_id</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NUMERIC(19,0)</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FOREIGN KEY,</a:t>
                      </a:r>
                    </a:p>
                    <a:p>
                      <a:pPr marL="0" marR="0" algn="ctr">
                        <a:lnSpc>
                          <a:spcPct val="100000"/>
                        </a:lnSpc>
                        <a:spcBef>
                          <a:spcPts val="0"/>
                        </a:spcBef>
                        <a:spcAft>
                          <a:spcPts val="0"/>
                        </a:spcAft>
                        <a:tabLst>
                          <a:tab pos="2529205" algn="l"/>
                        </a:tabLst>
                      </a:pPr>
                      <a:r>
                        <a:rPr lang="en-US" sz="1800" dirty="0">
                          <a:latin typeface="+mn-lt"/>
                          <a:ea typeface="Calibri"/>
                          <a:cs typeface="Shruti"/>
                        </a:rPr>
                        <a:t>NULL</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current financial year id</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12648">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8.</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leave_incur_id</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FOREIGN KEY</a:t>
                      </a:r>
                    </a:p>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leave incur id</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12648">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9.</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previous_year_id</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FOREIGN KEY,</a:t>
                      </a:r>
                    </a:p>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previous financial year id</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12648">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10.</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user_id</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FOREIGN KEY,</a:t>
                      </a:r>
                    </a:p>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system user id</a:t>
                      </a:r>
                    </a:p>
                  </a:txBody>
                  <a:tcPr marL="63972" marR="639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9" name="Picture 8"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0" name="Picture 9" descr="lms-home-247-icon.png"/>
          <p:cNvPicPr>
            <a:picLocks noChangeAspect="1"/>
          </p:cNvPicPr>
          <p:nvPr/>
        </p:nvPicPr>
        <p:blipFill>
          <a:blip r:embed="rId4">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5074919"/>
            <a:ext cx="10113264" cy="1105164"/>
          </a:xfrm>
        </p:spPr>
        <p:txBody>
          <a:bodyPr/>
          <a:lstStyle/>
          <a:p>
            <a:pPr>
              <a:lnSpc>
                <a:spcPct val="100000"/>
              </a:lnSpc>
            </a:pPr>
            <a:r>
              <a:rPr lang="en-US" sz="2400" u="sng" dirty="0"/>
              <a:t>Table Name : </a:t>
            </a:r>
            <a:r>
              <a:rPr lang="en-US" sz="2400" u="sng" dirty="0" err="1"/>
              <a:t>t_lms_leave_request</a:t>
            </a:r>
            <a:r>
              <a:rPr lang="en-US" sz="2400" dirty="0"/>
              <a:t/>
            </a:r>
            <a:br>
              <a:rPr lang="en-US" sz="2400" dirty="0"/>
            </a:br>
            <a:r>
              <a:rPr lang="en-US" sz="2400" dirty="0"/>
              <a:t>Description: </a:t>
            </a:r>
            <a:r>
              <a:rPr lang="en-US" sz="2400" dirty="0" err="1"/>
              <a:t>t_lms</a:t>
            </a:r>
            <a:r>
              <a:rPr lang="en-US" sz="2400" dirty="0"/>
              <a:t>_ </a:t>
            </a:r>
            <a:r>
              <a:rPr lang="en-US" sz="2400" dirty="0" err="1"/>
              <a:t>leave_request</a:t>
            </a:r>
            <a:r>
              <a:rPr lang="en-US" sz="2400" dirty="0"/>
              <a:t> table contain the details of user applied leave request and that detail</a:t>
            </a:r>
            <a:r>
              <a:rPr lang="en-US" sz="2400" dirty="0" smtClean="0"/>
              <a:t>.</a:t>
            </a:r>
            <a:endParaRPr lang="en-US" sz="2400" b="1"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28</a:t>
            </a:fld>
            <a:endParaRPr lang="en-US" dirty="0"/>
          </a:p>
        </p:txBody>
      </p:sp>
      <p:pic>
        <p:nvPicPr>
          <p:cNvPr id="8" name="Picture 7"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9" name="Picture 8" descr="lms-home-247-icon.png"/>
          <p:cNvPicPr>
            <a:picLocks noChangeAspect="1"/>
          </p:cNvPicPr>
          <p:nvPr/>
        </p:nvPicPr>
        <p:blipFill>
          <a:blip r:embed="rId4">
            <a:duotone>
              <a:schemeClr val="accent6">
                <a:shade val="45000"/>
                <a:satMod val="135000"/>
              </a:schemeClr>
              <a:prstClr val="white"/>
            </a:duotone>
          </a:blip>
          <a:stretch>
            <a:fillRect/>
          </a:stretch>
        </p:blipFill>
        <p:spPr>
          <a:xfrm>
            <a:off x="11133338" y="4422345"/>
            <a:ext cx="298569" cy="476440"/>
          </a:xfrm>
          <a:prstGeom prst="rect">
            <a:avLst/>
          </a:prstGeom>
        </p:spPr>
      </p:pic>
      <p:graphicFrame>
        <p:nvGraphicFramePr>
          <p:cNvPr id="10" name="Table 9"/>
          <p:cNvGraphicFramePr>
            <a:graphicFrameLocks noGrp="1"/>
          </p:cNvGraphicFramePr>
          <p:nvPr/>
        </p:nvGraphicFramePr>
        <p:xfrm>
          <a:off x="1159585" y="327134"/>
          <a:ext cx="9970869" cy="4008383"/>
        </p:xfrm>
        <a:graphic>
          <a:graphicData uri="http://schemas.openxmlformats.org/drawingml/2006/table">
            <a:tbl>
              <a:tblPr/>
              <a:tblGrid>
                <a:gridCol w="634190"/>
                <a:gridCol w="2466293"/>
                <a:gridCol w="1841187"/>
                <a:gridCol w="1702676"/>
                <a:gridCol w="3326523"/>
              </a:tblGrid>
              <a:tr h="618797">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No.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Fields 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Data Type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Contains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Description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6386">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leave_request_id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PRIMARY KEY,</a:t>
                      </a:r>
                    </a:p>
                    <a:p>
                      <a:pPr marL="0" marR="0" algn="ctr">
                        <a:lnSpc>
                          <a:spcPct val="100000"/>
                        </a:lnSpc>
                        <a:spcBef>
                          <a:spcPts val="0"/>
                        </a:spcBef>
                        <a:spcAft>
                          <a:spcPts val="0"/>
                        </a:spcAft>
                        <a:tabLst>
                          <a:tab pos="2529205" algn="l"/>
                        </a:tabLst>
                      </a:pPr>
                      <a:r>
                        <a:rPr lang="en-US" sz="1800">
                          <a:latin typeface="+mn-lt"/>
                          <a:ea typeface="Calibri"/>
                          <a:cs typeface="Shruti"/>
                        </a:rPr>
                        <a:t>NOT NULL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leave request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approver_email_id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VARCHAR(255)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a:latin typeface="+mn-lt"/>
                          <a:ea typeface="Calibri"/>
                          <a:cs typeface="Shruti"/>
                        </a:rPr>
                        <a:t>leave approver email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contact_number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VARCHAR(255)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employee contact number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duration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FLOAT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duration leave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end_date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DATETIME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a:latin typeface="+mn-lt"/>
                          <a:ea typeface="Calibri"/>
                          <a:cs typeface="Shruti"/>
                        </a:rPr>
                        <a:t>end date of leave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end_date_leave_nature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VARCHAR(255)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type of end day lave (full, half)</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sz="2400" dirty="0" smtClean="0"/>
              <a:t>Continue…</a:t>
            </a:r>
            <a:r>
              <a:rPr lang="en-US" sz="2400" u="sng" dirty="0" smtClean="0"/>
              <a:t/>
            </a:r>
            <a:br>
              <a:rPr lang="en-US" sz="2400" u="sng" dirty="0" smtClean="0"/>
            </a:br>
            <a:r>
              <a:rPr lang="en-US" sz="2400" u="sng" dirty="0" smtClean="0"/>
              <a:t>Table Name : </a:t>
            </a:r>
            <a:r>
              <a:rPr lang="en-US" sz="2400" u="sng" dirty="0" err="1" smtClean="0"/>
              <a:t>t_lms_leave_request</a:t>
            </a:r>
            <a:endParaRPr lang="en-US" sz="2400"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29</a:t>
            </a:fld>
            <a:endParaRPr lang="en-US" dirty="0"/>
          </a:p>
        </p:txBody>
      </p:sp>
      <p:graphicFrame>
        <p:nvGraphicFramePr>
          <p:cNvPr id="8" name="Table 7"/>
          <p:cNvGraphicFramePr>
            <a:graphicFrameLocks noGrp="1"/>
          </p:cNvGraphicFramePr>
          <p:nvPr/>
        </p:nvGraphicFramePr>
        <p:xfrm>
          <a:off x="1023006" y="309743"/>
          <a:ext cx="10060152" cy="4389120"/>
        </p:xfrm>
        <a:graphic>
          <a:graphicData uri="http://schemas.openxmlformats.org/drawingml/2006/table">
            <a:tbl>
              <a:tblPr/>
              <a:tblGrid>
                <a:gridCol w="639869"/>
                <a:gridCol w="2488377"/>
                <a:gridCol w="1857674"/>
                <a:gridCol w="1717922"/>
                <a:gridCol w="3356310"/>
              </a:tblGrid>
              <a:tr h="548640">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No.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Fields 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Data Type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Contains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Description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reason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TEXT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reason for apply leave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start_date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DATETIME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start date of leave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start_date_leave_nature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VARCHAR(255)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type of start date leave (full, half)</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10.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status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status of leave action (</a:t>
                      </a:r>
                      <a:r>
                        <a:rPr lang="en-US" sz="1800" dirty="0" err="1">
                          <a:latin typeface="+mn-lt"/>
                          <a:ea typeface="Calibri"/>
                          <a:cs typeface="Shruti"/>
                        </a:rPr>
                        <a:t>panding,approved</a:t>
                      </a:r>
                      <a:r>
                        <a:rPr lang="en-US" sz="1800" dirty="0">
                          <a:latin typeface="+mn-lt"/>
                          <a:ea typeface="Calibri"/>
                          <a:cs typeface="Shruti"/>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11.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leave_id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contain leave type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12.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user_id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contain user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13.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approver_comment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VARCHAR(255)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contain comment by approver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9" name="Picture 8"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0" name="Picture 9" descr="lms-home-247-icon.png"/>
          <p:cNvPicPr>
            <a:picLocks noChangeAspect="1"/>
          </p:cNvPicPr>
          <p:nvPr/>
        </p:nvPicPr>
        <p:blipFill>
          <a:blip r:embed="rId4">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5074920"/>
            <a:ext cx="10113264" cy="1183990"/>
          </a:xfrm>
        </p:spPr>
        <p:txBody>
          <a:bodyPr/>
          <a:lstStyle/>
          <a:p>
            <a:pPr>
              <a:lnSpc>
                <a:spcPct val="100000"/>
              </a:lnSpc>
            </a:pPr>
            <a:r>
              <a:rPr lang="en-US" sz="2400" u="sng" dirty="0"/>
              <a:t>Table Name : </a:t>
            </a:r>
            <a:r>
              <a:rPr lang="en-US" sz="2400" u="sng" dirty="0" err="1"/>
              <a:t>t_lms_leave_email_token</a:t>
            </a:r>
            <a:r>
              <a:rPr lang="en-US" sz="2400" dirty="0"/>
              <a:t/>
            </a:r>
            <a:br>
              <a:rPr lang="en-US" sz="2400" dirty="0"/>
            </a:br>
            <a:r>
              <a:rPr lang="en-US" sz="2400" dirty="0"/>
              <a:t>Description: </a:t>
            </a:r>
            <a:r>
              <a:rPr lang="en-US" sz="2400" dirty="0" err="1"/>
              <a:t>t_lms_leave_email_token</a:t>
            </a:r>
            <a:r>
              <a:rPr lang="en-US" sz="2400" dirty="0"/>
              <a:t> table contain the data of generated email token, which are send to manager / approver for perform action on it.</a:t>
            </a:r>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30</a:t>
            </a:fld>
            <a:endParaRPr lang="en-US" dirty="0"/>
          </a:p>
        </p:txBody>
      </p:sp>
      <p:pic>
        <p:nvPicPr>
          <p:cNvPr id="8" name="Picture 7"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9" name="Picture 8" descr="lms-home-247-icon.png"/>
          <p:cNvPicPr>
            <a:picLocks noChangeAspect="1"/>
          </p:cNvPicPr>
          <p:nvPr/>
        </p:nvPicPr>
        <p:blipFill>
          <a:blip r:embed="rId4">
            <a:duotone>
              <a:schemeClr val="accent6">
                <a:shade val="45000"/>
                <a:satMod val="135000"/>
              </a:schemeClr>
              <a:prstClr val="white"/>
            </a:duotone>
          </a:blip>
          <a:stretch>
            <a:fillRect/>
          </a:stretch>
        </p:blipFill>
        <p:spPr>
          <a:xfrm>
            <a:off x="11133338" y="4422345"/>
            <a:ext cx="298569" cy="476440"/>
          </a:xfrm>
          <a:prstGeom prst="rect">
            <a:avLst/>
          </a:prstGeom>
        </p:spPr>
      </p:pic>
      <p:graphicFrame>
        <p:nvGraphicFramePr>
          <p:cNvPr id="10" name="Table 9"/>
          <p:cNvGraphicFramePr>
            <a:graphicFrameLocks noGrp="1"/>
          </p:cNvGraphicFramePr>
          <p:nvPr/>
        </p:nvGraphicFramePr>
        <p:xfrm>
          <a:off x="1171246" y="700776"/>
          <a:ext cx="9817321" cy="3152316"/>
        </p:xfrm>
        <a:graphic>
          <a:graphicData uri="http://schemas.openxmlformats.org/drawingml/2006/table">
            <a:tbl>
              <a:tblPr/>
              <a:tblGrid>
                <a:gridCol w="624739"/>
                <a:gridCol w="1874216"/>
                <a:gridCol w="2231209"/>
                <a:gridCol w="2141961"/>
                <a:gridCol w="2945196"/>
              </a:tblGrid>
              <a:tr h="591996">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No.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Fields 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Data Type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Contains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Description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008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err="1">
                          <a:latin typeface="+mn-lt"/>
                          <a:ea typeface="Calibri"/>
                          <a:cs typeface="Shruti"/>
                        </a:rPr>
                        <a:t>email_token_id</a:t>
                      </a:r>
                      <a:endParaRPr lang="en-US" sz="1800" dirty="0">
                        <a:latin typeface="+mn-lt"/>
                        <a:ea typeface="Calibri"/>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PRIMARY KEY,</a:t>
                      </a:r>
                    </a:p>
                    <a:p>
                      <a:pPr marL="0" marR="0" algn="ctr">
                        <a:lnSpc>
                          <a:spcPct val="100000"/>
                        </a:lnSpc>
                        <a:spcBef>
                          <a:spcPts val="0"/>
                        </a:spcBef>
                        <a:spcAft>
                          <a:spcPts val="0"/>
                        </a:spcAft>
                        <a:tabLst>
                          <a:tab pos="2529205" algn="l"/>
                        </a:tabLst>
                      </a:pPr>
                      <a:r>
                        <a:rPr lang="en-US" sz="1800">
                          <a:latin typeface="+mn-lt"/>
                          <a:ea typeface="Calibri"/>
                          <a:cs typeface="Shruti"/>
                        </a:rPr>
                        <a:t>NOT 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contain email token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008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created_date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DATETIME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contain creation date of token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008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state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VARCHAR(255)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contain token state (open, close)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008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token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VARCHAR(255)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2529205" algn="l"/>
                        </a:tabLst>
                      </a:pPr>
                      <a:r>
                        <a:rPr lang="en-US" sz="1800" dirty="0">
                          <a:latin typeface="+mn-lt"/>
                          <a:ea typeface="Calibri"/>
                          <a:cs typeface="Shruti"/>
                        </a:rPr>
                        <a:t>token description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5074919"/>
            <a:ext cx="10113264" cy="1168226"/>
          </a:xfrm>
        </p:spPr>
        <p:txBody>
          <a:bodyPr/>
          <a:lstStyle/>
          <a:p>
            <a:pPr>
              <a:lnSpc>
                <a:spcPct val="100000"/>
              </a:lnSpc>
            </a:pPr>
            <a:r>
              <a:rPr lang="en-US" sz="2400" u="sng" dirty="0"/>
              <a:t>Table Name : </a:t>
            </a:r>
            <a:r>
              <a:rPr lang="en-US" sz="2400" u="sng" dirty="0" err="1"/>
              <a:t>t_lms_manage_holiday</a:t>
            </a:r>
            <a:r>
              <a:rPr lang="en-US" sz="2400" dirty="0"/>
              <a:t/>
            </a:r>
            <a:br>
              <a:rPr lang="en-US" sz="2400" dirty="0"/>
            </a:br>
            <a:r>
              <a:rPr lang="en-US" sz="2400" dirty="0"/>
              <a:t>Description: </a:t>
            </a:r>
            <a:r>
              <a:rPr lang="en-US" sz="2400" dirty="0" err="1"/>
              <a:t>t_lms_manage_holiday</a:t>
            </a:r>
            <a:r>
              <a:rPr lang="en-US" sz="2400" dirty="0"/>
              <a:t> table contain the data of current year holidays, it is maintained by system administrator</a:t>
            </a:r>
            <a:r>
              <a:rPr lang="en-US" sz="2400" dirty="0" smtClean="0"/>
              <a:t>.</a:t>
            </a:r>
            <a:endParaRPr lang="en-US" sz="2400"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31</a:t>
            </a:fld>
            <a:endParaRPr lang="en-US" dirty="0"/>
          </a:p>
        </p:txBody>
      </p:sp>
      <p:pic>
        <p:nvPicPr>
          <p:cNvPr id="8" name="Picture 7"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9" name="Picture 8" descr="lms-home-247-icon.png"/>
          <p:cNvPicPr>
            <a:picLocks noChangeAspect="1"/>
          </p:cNvPicPr>
          <p:nvPr/>
        </p:nvPicPr>
        <p:blipFill>
          <a:blip r:embed="rId4">
            <a:duotone>
              <a:schemeClr val="accent6">
                <a:shade val="45000"/>
                <a:satMod val="135000"/>
              </a:schemeClr>
              <a:prstClr val="white"/>
            </a:duotone>
          </a:blip>
          <a:stretch>
            <a:fillRect/>
          </a:stretch>
        </p:blipFill>
        <p:spPr>
          <a:xfrm>
            <a:off x="11133338" y="4422345"/>
            <a:ext cx="298569" cy="476440"/>
          </a:xfrm>
          <a:prstGeom prst="rect">
            <a:avLst/>
          </a:prstGeom>
        </p:spPr>
      </p:pic>
      <p:graphicFrame>
        <p:nvGraphicFramePr>
          <p:cNvPr id="10" name="Table 9"/>
          <p:cNvGraphicFramePr>
            <a:graphicFrameLocks noGrp="1"/>
          </p:cNvGraphicFramePr>
          <p:nvPr/>
        </p:nvGraphicFramePr>
        <p:xfrm>
          <a:off x="1143821" y="585688"/>
          <a:ext cx="9844746" cy="3154680"/>
        </p:xfrm>
        <a:graphic>
          <a:graphicData uri="http://schemas.openxmlformats.org/drawingml/2006/table">
            <a:tbl>
              <a:tblPr/>
              <a:tblGrid>
                <a:gridCol w="626168"/>
                <a:gridCol w="2695999"/>
                <a:gridCol w="1913290"/>
                <a:gridCol w="1913290"/>
                <a:gridCol w="2695999"/>
              </a:tblGrid>
              <a:tr h="594360">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No.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Fields 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Data Type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Contains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Description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008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holiday_id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PRIMARY KEY,</a:t>
                      </a:r>
                    </a:p>
                    <a:p>
                      <a:pPr marL="0" marR="0" algn="ctr">
                        <a:lnSpc>
                          <a:spcPct val="100000"/>
                        </a:lnSpc>
                        <a:spcBef>
                          <a:spcPts val="0"/>
                        </a:spcBef>
                        <a:spcAft>
                          <a:spcPts val="0"/>
                        </a:spcAft>
                        <a:tabLst>
                          <a:tab pos="2529205" algn="l"/>
                        </a:tabLst>
                      </a:pPr>
                      <a:r>
                        <a:rPr lang="en-US" sz="1800">
                          <a:latin typeface="+mn-lt"/>
                          <a:ea typeface="Calibri"/>
                          <a:cs typeface="Shruti"/>
                        </a:rPr>
                        <a:t>NOT 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holiday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008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holiday_date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DATETIME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holiday date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008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festival_name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VARCHAR(255)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name of festival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0080">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financial_year_config_id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NUMERIC(19,0)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a:latin typeface="+mn-lt"/>
                          <a:ea typeface="Calibri"/>
                          <a:cs typeface="Shruti"/>
                        </a:rPr>
                        <a:t>FOREIGN KEY,</a:t>
                      </a:r>
                    </a:p>
                    <a:p>
                      <a:pPr marL="0" marR="0" algn="ctr">
                        <a:lnSpc>
                          <a:spcPct val="100000"/>
                        </a:lnSpc>
                        <a:spcBef>
                          <a:spcPts val="0"/>
                        </a:spcBef>
                        <a:spcAft>
                          <a:spcPts val="0"/>
                        </a:spcAft>
                        <a:tabLst>
                          <a:tab pos="2529205" algn="l"/>
                        </a:tabLst>
                      </a:pPr>
                      <a:r>
                        <a:rPr lang="en-US" sz="1800">
                          <a:latin typeface="+mn-lt"/>
                          <a:ea typeface="Calibri"/>
                          <a:cs typeface="Shruti"/>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tabLst>
                          <a:tab pos="2529205" algn="l"/>
                        </a:tabLst>
                      </a:pPr>
                      <a:r>
                        <a:rPr lang="en-US" sz="1800" dirty="0">
                          <a:latin typeface="+mn-lt"/>
                          <a:ea typeface="Calibri"/>
                          <a:cs typeface="Shruti"/>
                        </a:rPr>
                        <a:t>contain financial year 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algn="r"/>
            <a:r>
              <a:rPr lang="en-US" dirty="0" smtClean="0"/>
              <a:t>Screen Layout</a:t>
            </a:r>
            <a:endParaRPr lang="en-US"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32</a:t>
            </a:fld>
            <a:endParaRPr lang="en-US" dirty="0"/>
          </a:p>
        </p:txBody>
      </p:sp>
      <p:pic>
        <p:nvPicPr>
          <p:cNvPr id="9" name="Picture 8"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336675" y="5664634"/>
            <a:ext cx="677903" cy="631995"/>
          </a:xfrm>
          <a:prstGeom prst="rect">
            <a:avLst/>
          </a:prstGeom>
        </p:spPr>
      </p:pic>
      <p:pic>
        <p:nvPicPr>
          <p:cNvPr id="10" name="Picture 9" descr="lms-home-247-icon.png"/>
          <p:cNvPicPr>
            <a:picLocks noChangeAspect="1"/>
          </p:cNvPicPr>
          <p:nvPr/>
        </p:nvPicPr>
        <p:blipFill>
          <a:blip r:embed="rId4">
            <a:duotone>
              <a:schemeClr val="accent6">
                <a:shade val="45000"/>
                <a:satMod val="135000"/>
              </a:schemeClr>
              <a:prstClr val="white"/>
            </a:duotone>
          </a:blip>
          <a:stretch>
            <a:fillRect/>
          </a:stretch>
        </p:blipFill>
        <p:spPr>
          <a:xfrm>
            <a:off x="10991451" y="5841242"/>
            <a:ext cx="298569" cy="476440"/>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Users Management Screen</a:t>
            </a:r>
            <a:endParaRPr lang="en-US"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33</a:t>
            </a:fld>
            <a:endParaRPr lang="en-US" dirty="0"/>
          </a:p>
        </p:txBody>
      </p:sp>
      <p:pic>
        <p:nvPicPr>
          <p:cNvPr id="8" name="Picture 7" descr="User_Added_Screenshot.png"/>
          <p:cNvPicPr>
            <a:picLocks noChangeAspect="1"/>
          </p:cNvPicPr>
          <p:nvPr/>
        </p:nvPicPr>
        <p:blipFill>
          <a:blip r:embed="rId2"/>
          <a:stretch>
            <a:fillRect/>
          </a:stretch>
        </p:blipFill>
        <p:spPr>
          <a:xfrm>
            <a:off x="1119378" y="47298"/>
            <a:ext cx="9982534" cy="4846320"/>
          </a:xfrm>
          <a:prstGeom prst="rect">
            <a:avLst/>
          </a:prstGeom>
        </p:spPr>
      </p:pic>
      <p:pic>
        <p:nvPicPr>
          <p:cNvPr id="9" name="Picture 8"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0" name="Picture 9" descr="lms-home-247-icon.png"/>
          <p:cNvPicPr>
            <a:picLocks noChangeAspect="1"/>
          </p:cNvPicPr>
          <p:nvPr/>
        </p:nvPicPr>
        <p:blipFill>
          <a:blip r:embed="rId5">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 Position Management Screen </a:t>
            </a:r>
            <a:endParaRPr lang="en-US"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34</a:t>
            </a:fld>
            <a:endParaRPr lang="en-US" dirty="0"/>
          </a:p>
        </p:txBody>
      </p:sp>
      <p:pic>
        <p:nvPicPr>
          <p:cNvPr id="8" name="Picture 7"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9" name="Picture 8" descr="lms-home-247-icon.png"/>
          <p:cNvPicPr>
            <a:picLocks noChangeAspect="1"/>
          </p:cNvPicPr>
          <p:nvPr/>
        </p:nvPicPr>
        <p:blipFill>
          <a:blip r:embed="rId4">
            <a:duotone>
              <a:schemeClr val="accent6">
                <a:shade val="45000"/>
                <a:satMod val="135000"/>
              </a:schemeClr>
              <a:prstClr val="white"/>
            </a:duotone>
          </a:blip>
          <a:stretch>
            <a:fillRect/>
          </a:stretch>
        </p:blipFill>
        <p:spPr>
          <a:xfrm>
            <a:off x="11133338" y="4422345"/>
            <a:ext cx="298569" cy="476440"/>
          </a:xfrm>
          <a:prstGeom prst="rect">
            <a:avLst/>
          </a:prstGeom>
        </p:spPr>
      </p:pic>
      <p:pic>
        <p:nvPicPr>
          <p:cNvPr id="10" name="Picture 9" descr="ManangePosition_Validation_Screenshot.png"/>
          <p:cNvPicPr>
            <a:picLocks noChangeAspect="1"/>
          </p:cNvPicPr>
          <p:nvPr/>
        </p:nvPicPr>
        <p:blipFill>
          <a:blip r:embed="rId5"/>
          <a:stretch>
            <a:fillRect/>
          </a:stretch>
        </p:blipFill>
        <p:spPr>
          <a:xfrm>
            <a:off x="1103599" y="31532"/>
            <a:ext cx="9996728" cy="4846320"/>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Leave Type Management Screen</a:t>
            </a:r>
            <a:endParaRPr lang="en-US"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35</a:t>
            </a:fld>
            <a:endParaRPr lang="en-US" dirty="0"/>
          </a:p>
        </p:txBody>
      </p:sp>
      <p:pic>
        <p:nvPicPr>
          <p:cNvPr id="11" name="Picture 10"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2" name="Picture 11" descr="lms-home-247-icon.png"/>
          <p:cNvPicPr>
            <a:picLocks noChangeAspect="1"/>
          </p:cNvPicPr>
          <p:nvPr/>
        </p:nvPicPr>
        <p:blipFill>
          <a:blip r:embed="rId4">
            <a:duotone>
              <a:schemeClr val="accent6">
                <a:shade val="45000"/>
                <a:satMod val="135000"/>
              </a:schemeClr>
              <a:prstClr val="white"/>
            </a:duotone>
          </a:blip>
          <a:stretch>
            <a:fillRect/>
          </a:stretch>
        </p:blipFill>
        <p:spPr>
          <a:xfrm>
            <a:off x="11133338" y="4422345"/>
            <a:ext cx="298569" cy="476440"/>
          </a:xfrm>
          <a:prstGeom prst="rect">
            <a:avLst/>
          </a:prstGeom>
        </p:spPr>
      </p:pic>
      <p:pic>
        <p:nvPicPr>
          <p:cNvPr id="13" name="Picture 12" descr="LeaveType_Validation_Screenshot.png"/>
          <p:cNvPicPr>
            <a:picLocks noChangeAspect="1"/>
          </p:cNvPicPr>
          <p:nvPr/>
        </p:nvPicPr>
        <p:blipFill>
          <a:blip r:embed="rId5"/>
          <a:stretch>
            <a:fillRect/>
          </a:stretch>
        </p:blipFill>
        <p:spPr>
          <a:xfrm>
            <a:off x="903949" y="78830"/>
            <a:ext cx="10241280" cy="4755574"/>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Roles Management Screen</a:t>
            </a:r>
            <a:endParaRPr lang="en-US"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36</a:t>
            </a:fld>
            <a:endParaRPr lang="en-US" dirty="0"/>
          </a:p>
        </p:txBody>
      </p:sp>
      <p:pic>
        <p:nvPicPr>
          <p:cNvPr id="8" name="Picture 7" descr="Roles_Search_Screenshot.png"/>
          <p:cNvPicPr>
            <a:picLocks noChangeAspect="1"/>
          </p:cNvPicPr>
          <p:nvPr/>
        </p:nvPicPr>
        <p:blipFill>
          <a:blip r:embed="rId2"/>
          <a:stretch>
            <a:fillRect/>
          </a:stretch>
        </p:blipFill>
        <p:spPr>
          <a:xfrm>
            <a:off x="1028705" y="73492"/>
            <a:ext cx="10483253" cy="4754880"/>
          </a:xfrm>
          <a:prstGeom prst="rect">
            <a:avLst/>
          </a:prstGeom>
        </p:spPr>
      </p:pic>
      <p:pic>
        <p:nvPicPr>
          <p:cNvPr id="9" name="Picture 8"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0" name="Picture 9" descr="lms-home-247-icon.png"/>
          <p:cNvPicPr>
            <a:picLocks noChangeAspect="1"/>
          </p:cNvPicPr>
          <p:nvPr/>
        </p:nvPicPr>
        <p:blipFill>
          <a:blip r:embed="rId5">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Historical Leave Screen</a:t>
            </a:r>
            <a:endParaRPr lang="en-US"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37</a:t>
            </a:fld>
            <a:endParaRPr lang="en-US" dirty="0"/>
          </a:p>
        </p:txBody>
      </p:sp>
      <p:pic>
        <p:nvPicPr>
          <p:cNvPr id="8" name="Picture 7" descr="HistoricalLeave_Screenshot.png"/>
          <p:cNvPicPr>
            <a:picLocks noChangeAspect="1"/>
          </p:cNvPicPr>
          <p:nvPr/>
        </p:nvPicPr>
        <p:blipFill>
          <a:blip r:embed="rId2"/>
          <a:stretch>
            <a:fillRect/>
          </a:stretch>
        </p:blipFill>
        <p:spPr>
          <a:xfrm>
            <a:off x="887113" y="13648"/>
            <a:ext cx="10340121" cy="4846320"/>
          </a:xfrm>
          <a:prstGeom prst="rect">
            <a:avLst/>
          </a:prstGeom>
        </p:spPr>
      </p:pic>
      <p:pic>
        <p:nvPicPr>
          <p:cNvPr id="9" name="Picture 8"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0" name="Picture 9" descr="lms-home-247-icon.png"/>
          <p:cNvPicPr>
            <a:picLocks noChangeAspect="1"/>
          </p:cNvPicPr>
          <p:nvPr/>
        </p:nvPicPr>
        <p:blipFill>
          <a:blip r:embed="rId5">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Leave Action Audit Screen</a:t>
            </a:r>
            <a:endParaRPr lang="en-US"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38</a:t>
            </a:fld>
            <a:endParaRPr lang="en-US" dirty="0"/>
          </a:p>
        </p:txBody>
      </p:sp>
      <p:pic>
        <p:nvPicPr>
          <p:cNvPr id="8" name="Picture 7" descr="HistoricalLeave_Audit_Screenshot.png"/>
          <p:cNvPicPr>
            <a:picLocks noChangeAspect="1"/>
          </p:cNvPicPr>
          <p:nvPr/>
        </p:nvPicPr>
        <p:blipFill>
          <a:blip r:embed="rId2"/>
          <a:stretch>
            <a:fillRect/>
          </a:stretch>
        </p:blipFill>
        <p:spPr>
          <a:xfrm>
            <a:off x="955343" y="136480"/>
            <a:ext cx="10179305" cy="4663440"/>
          </a:xfrm>
          <a:prstGeom prst="rect">
            <a:avLst/>
          </a:prstGeom>
        </p:spPr>
      </p:pic>
      <p:pic>
        <p:nvPicPr>
          <p:cNvPr id="9" name="Picture 8"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0" name="Picture 9" descr="lms-home-247-icon.png"/>
          <p:cNvPicPr>
            <a:picLocks noChangeAspect="1"/>
          </p:cNvPicPr>
          <p:nvPr/>
        </p:nvPicPr>
        <p:blipFill>
          <a:blip r:embed="rId5">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Reports Screen </a:t>
            </a:r>
            <a:endParaRPr lang="en-US"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39</a:t>
            </a:fld>
            <a:endParaRPr lang="en-US" dirty="0"/>
          </a:p>
        </p:txBody>
      </p:sp>
      <p:pic>
        <p:nvPicPr>
          <p:cNvPr id="8" name="Picture 7" descr="Report_Screenshot.png"/>
          <p:cNvPicPr>
            <a:picLocks noChangeAspect="1"/>
          </p:cNvPicPr>
          <p:nvPr/>
        </p:nvPicPr>
        <p:blipFill>
          <a:blip r:embed="rId2"/>
          <a:stretch>
            <a:fillRect/>
          </a:stretch>
        </p:blipFill>
        <p:spPr>
          <a:xfrm>
            <a:off x="996292" y="68240"/>
            <a:ext cx="10431757" cy="4754880"/>
          </a:xfrm>
          <a:prstGeom prst="rect">
            <a:avLst/>
          </a:prstGeom>
        </p:spPr>
      </p:pic>
      <p:pic>
        <p:nvPicPr>
          <p:cNvPr id="9" name="Picture 8"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0" name="Picture 9" descr="lms-home-247-icon.png"/>
          <p:cNvPicPr>
            <a:picLocks noChangeAspect="1"/>
          </p:cNvPicPr>
          <p:nvPr/>
        </p:nvPicPr>
        <p:blipFill>
          <a:blip r:embed="rId5">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Financial Period Configuration Screen</a:t>
            </a:r>
            <a:endParaRPr lang="en-US"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40</a:t>
            </a:fld>
            <a:endParaRPr lang="en-US" dirty="0"/>
          </a:p>
        </p:txBody>
      </p:sp>
      <p:pic>
        <p:nvPicPr>
          <p:cNvPr id="9" name="Picture 8" descr="FinancialConfig_Validation_Screenshot.png"/>
          <p:cNvPicPr>
            <a:picLocks noChangeAspect="1"/>
          </p:cNvPicPr>
          <p:nvPr/>
        </p:nvPicPr>
        <p:blipFill>
          <a:blip r:embed="rId2"/>
          <a:stretch>
            <a:fillRect/>
          </a:stretch>
        </p:blipFill>
        <p:spPr>
          <a:xfrm>
            <a:off x="1201004" y="27296"/>
            <a:ext cx="9963980" cy="4846320"/>
          </a:xfrm>
          <a:prstGeom prst="rect">
            <a:avLst/>
          </a:prstGeom>
        </p:spPr>
      </p:pic>
      <p:pic>
        <p:nvPicPr>
          <p:cNvPr id="10" name="Picture 9"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1" name="Picture 10" descr="lms-home-247-icon.png"/>
          <p:cNvPicPr>
            <a:picLocks noChangeAspect="1"/>
          </p:cNvPicPr>
          <p:nvPr/>
        </p:nvPicPr>
        <p:blipFill>
          <a:blip r:embed="rId5">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Holiday Management Screen</a:t>
            </a:r>
            <a:endParaRPr lang="en-US"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41</a:t>
            </a:fld>
            <a:endParaRPr lang="en-US" dirty="0"/>
          </a:p>
        </p:txBody>
      </p:sp>
      <p:pic>
        <p:nvPicPr>
          <p:cNvPr id="9" name="Picture 8" descr="Added_Holiday_Screenshot.png"/>
          <p:cNvPicPr>
            <a:picLocks noChangeAspect="1"/>
          </p:cNvPicPr>
          <p:nvPr/>
        </p:nvPicPr>
        <p:blipFill>
          <a:blip r:embed="rId2"/>
          <a:stretch>
            <a:fillRect/>
          </a:stretch>
        </p:blipFill>
        <p:spPr>
          <a:xfrm>
            <a:off x="1037239" y="27296"/>
            <a:ext cx="10243357" cy="4846320"/>
          </a:xfrm>
          <a:prstGeom prst="rect">
            <a:avLst/>
          </a:prstGeom>
        </p:spPr>
      </p:pic>
      <p:pic>
        <p:nvPicPr>
          <p:cNvPr id="10" name="Picture 9"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1" name="Picture 10" descr="lms-home-247-icon.png"/>
          <p:cNvPicPr>
            <a:picLocks noChangeAspect="1"/>
          </p:cNvPicPr>
          <p:nvPr/>
        </p:nvPicPr>
        <p:blipFill>
          <a:blip r:embed="rId5">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Employee Dashboard Screen</a:t>
            </a:r>
            <a:endParaRPr lang="en-US"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42</a:t>
            </a:fld>
            <a:endParaRPr lang="en-US" dirty="0"/>
          </a:p>
        </p:txBody>
      </p:sp>
      <p:pic>
        <p:nvPicPr>
          <p:cNvPr id="8" name="Picture 7" descr="User_Deshboard_Screenshot.png"/>
          <p:cNvPicPr>
            <a:picLocks noChangeAspect="1"/>
          </p:cNvPicPr>
          <p:nvPr/>
        </p:nvPicPr>
        <p:blipFill>
          <a:blip r:embed="rId2"/>
          <a:stretch>
            <a:fillRect/>
          </a:stretch>
        </p:blipFill>
        <p:spPr>
          <a:xfrm>
            <a:off x="1105472" y="27296"/>
            <a:ext cx="10015307" cy="4846320"/>
          </a:xfrm>
          <a:prstGeom prst="rect">
            <a:avLst/>
          </a:prstGeom>
        </p:spPr>
      </p:pic>
      <p:pic>
        <p:nvPicPr>
          <p:cNvPr id="9" name="Picture 8"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0" name="Picture 9" descr="lms-home-247-icon.png"/>
          <p:cNvPicPr>
            <a:picLocks noChangeAspect="1"/>
          </p:cNvPicPr>
          <p:nvPr/>
        </p:nvPicPr>
        <p:blipFill>
          <a:blip r:embed="rId5">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Dashboard With Filtered Leave Record</a:t>
            </a:r>
            <a:endParaRPr lang="en-US"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43</a:t>
            </a:fld>
            <a:endParaRPr lang="en-US" dirty="0"/>
          </a:p>
        </p:txBody>
      </p:sp>
      <p:pic>
        <p:nvPicPr>
          <p:cNvPr id="8" name="Picture 7" descr="User_Deshboard_FilterData_Screenshot.png"/>
          <p:cNvPicPr>
            <a:picLocks noChangeAspect="1"/>
          </p:cNvPicPr>
          <p:nvPr/>
        </p:nvPicPr>
        <p:blipFill>
          <a:blip r:embed="rId2"/>
          <a:stretch>
            <a:fillRect/>
          </a:stretch>
        </p:blipFill>
        <p:spPr>
          <a:xfrm>
            <a:off x="1187356" y="13648"/>
            <a:ext cx="9970295" cy="4846320"/>
          </a:xfrm>
          <a:prstGeom prst="rect">
            <a:avLst/>
          </a:prstGeom>
        </p:spPr>
      </p:pic>
      <p:pic>
        <p:nvPicPr>
          <p:cNvPr id="9" name="Picture 8"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0" name="Picture 9" descr="lms-home-247-icon.png"/>
          <p:cNvPicPr>
            <a:picLocks noChangeAspect="1"/>
          </p:cNvPicPr>
          <p:nvPr/>
        </p:nvPicPr>
        <p:blipFill>
          <a:blip r:embed="rId5">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Apply Leave Screen</a:t>
            </a:r>
            <a:endParaRPr lang="en-US"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44</a:t>
            </a:fld>
            <a:endParaRPr lang="en-US" dirty="0"/>
          </a:p>
        </p:txBody>
      </p:sp>
      <p:pic>
        <p:nvPicPr>
          <p:cNvPr id="8" name="Picture 7" descr="Apply_Leave_Validation_Screenshot.png"/>
          <p:cNvPicPr>
            <a:picLocks noChangeAspect="1"/>
          </p:cNvPicPr>
          <p:nvPr/>
        </p:nvPicPr>
        <p:blipFill>
          <a:blip r:embed="rId2"/>
          <a:stretch>
            <a:fillRect/>
          </a:stretch>
        </p:blipFill>
        <p:spPr>
          <a:xfrm>
            <a:off x="1105470" y="27296"/>
            <a:ext cx="10015307" cy="4846320"/>
          </a:xfrm>
          <a:prstGeom prst="rect">
            <a:avLst/>
          </a:prstGeom>
        </p:spPr>
      </p:pic>
      <p:pic>
        <p:nvPicPr>
          <p:cNvPr id="9" name="Picture 8"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0" name="Picture 9" descr="lms-home-247-icon.png"/>
          <p:cNvPicPr>
            <a:picLocks noChangeAspect="1"/>
          </p:cNvPicPr>
          <p:nvPr/>
        </p:nvPicPr>
        <p:blipFill>
          <a:blip r:embed="rId5">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Apply Leave Screen</a:t>
            </a:r>
            <a:endParaRPr lang="en-US"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45</a:t>
            </a:fld>
            <a:endParaRPr lang="en-US" dirty="0"/>
          </a:p>
        </p:txBody>
      </p:sp>
      <p:pic>
        <p:nvPicPr>
          <p:cNvPr id="8" name="Picture 7" descr="Apply_Leave_Ivalid_contact-no_Validation_Screenshot.png"/>
          <p:cNvPicPr>
            <a:picLocks noChangeAspect="1"/>
          </p:cNvPicPr>
          <p:nvPr/>
        </p:nvPicPr>
        <p:blipFill>
          <a:blip r:embed="rId2"/>
          <a:stretch>
            <a:fillRect/>
          </a:stretch>
        </p:blipFill>
        <p:spPr>
          <a:xfrm>
            <a:off x="1119117" y="27296"/>
            <a:ext cx="10100753" cy="4846320"/>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Leave Request Confirmation </a:t>
            </a:r>
            <a:r>
              <a:rPr lang="en-US" dirty="0" smtClean="0"/>
              <a:t>p</a:t>
            </a:r>
            <a:r>
              <a:rPr lang="en-US" dirty="0" smtClean="0"/>
              <a:t>op up</a:t>
            </a:r>
            <a:endParaRPr lang="en-US"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46</a:t>
            </a:fld>
            <a:endParaRPr lang="en-US" dirty="0"/>
          </a:p>
        </p:txBody>
      </p:sp>
      <p:pic>
        <p:nvPicPr>
          <p:cNvPr id="8" name="Picture 7" descr="Apply_Leave_Confirmation_Screenshot.png"/>
          <p:cNvPicPr>
            <a:picLocks noChangeAspect="1"/>
          </p:cNvPicPr>
          <p:nvPr/>
        </p:nvPicPr>
        <p:blipFill>
          <a:blip r:embed="rId2"/>
          <a:stretch>
            <a:fillRect/>
          </a:stretch>
        </p:blipFill>
        <p:spPr>
          <a:xfrm>
            <a:off x="1132771" y="81888"/>
            <a:ext cx="9913244" cy="4754880"/>
          </a:xfrm>
          <a:prstGeom prst="rect">
            <a:avLst/>
          </a:prstGeom>
        </p:spPr>
      </p:pic>
      <p:pic>
        <p:nvPicPr>
          <p:cNvPr id="9" name="Picture 8"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0" name="Picture 9" descr="lms-home-247-icon.png"/>
          <p:cNvPicPr>
            <a:picLocks noChangeAspect="1"/>
          </p:cNvPicPr>
          <p:nvPr/>
        </p:nvPicPr>
        <p:blipFill>
          <a:blip r:embed="rId5">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Manager Inbox Screen </a:t>
            </a:r>
            <a:endParaRPr lang="en-US"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47</a:t>
            </a:fld>
            <a:endParaRPr lang="en-US" dirty="0"/>
          </a:p>
        </p:txBody>
      </p:sp>
      <p:pic>
        <p:nvPicPr>
          <p:cNvPr id="8" name="Picture 7" descr="Manager_Inbox.PNG"/>
          <p:cNvPicPr>
            <a:picLocks noChangeAspect="1"/>
          </p:cNvPicPr>
          <p:nvPr/>
        </p:nvPicPr>
        <p:blipFill>
          <a:blip r:embed="rId2"/>
          <a:stretch>
            <a:fillRect/>
          </a:stretch>
        </p:blipFill>
        <p:spPr>
          <a:xfrm>
            <a:off x="641456" y="13648"/>
            <a:ext cx="10880193" cy="4846320"/>
          </a:xfrm>
          <a:prstGeom prst="rect">
            <a:avLst/>
          </a:prstGeom>
        </p:spPr>
      </p:pic>
      <p:pic>
        <p:nvPicPr>
          <p:cNvPr id="9" name="Picture 8"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0" name="Picture 9" descr="lms-home-247-icon.png"/>
          <p:cNvPicPr>
            <a:picLocks noChangeAspect="1"/>
          </p:cNvPicPr>
          <p:nvPr/>
        </p:nvPicPr>
        <p:blipFill>
          <a:blip r:embed="rId5">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Manager Provide Leave Reject Reason </a:t>
            </a:r>
            <a:endParaRPr lang="en-US"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48</a:t>
            </a:fld>
            <a:endParaRPr lang="en-US" dirty="0"/>
          </a:p>
        </p:txBody>
      </p:sp>
      <p:pic>
        <p:nvPicPr>
          <p:cNvPr id="8" name="Picture 7" descr="Manager_Inbox_Reson_Screenshot.PNG"/>
          <p:cNvPicPr>
            <a:picLocks noChangeAspect="1"/>
          </p:cNvPicPr>
          <p:nvPr/>
        </p:nvPicPr>
        <p:blipFill>
          <a:blip r:embed="rId2"/>
          <a:srcRect r="2402" b="1430"/>
          <a:stretch>
            <a:fillRect/>
          </a:stretch>
        </p:blipFill>
        <p:spPr>
          <a:xfrm>
            <a:off x="832526" y="136476"/>
            <a:ext cx="10301269" cy="4389120"/>
          </a:xfrm>
          <a:prstGeom prst="rect">
            <a:avLst/>
          </a:prstGeom>
        </p:spPr>
      </p:pic>
      <p:pic>
        <p:nvPicPr>
          <p:cNvPr id="9" name="Picture 8"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0" name="Picture 9" descr="lms-home-247-icon.png"/>
          <p:cNvPicPr>
            <a:picLocks noChangeAspect="1"/>
          </p:cNvPicPr>
          <p:nvPr/>
        </p:nvPicPr>
        <p:blipFill>
          <a:blip r:embed="rId5">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smtClean="0"/>
              <a:t>Generated Reports</a:t>
            </a:r>
            <a:endParaRPr lang="en-US" dirty="0"/>
          </a:p>
        </p:txBody>
      </p:sp>
      <p:sp>
        <p:nvSpPr>
          <p:cNvPr id="4" name="Date Placeholder 3"/>
          <p:cNvSpPr>
            <a:spLocks noGrp="1"/>
          </p:cNvSpPr>
          <p:nvPr>
            <p:ph type="dt" sz="half" idx="10"/>
          </p:nvPr>
        </p:nvSpPr>
        <p:spPr/>
        <p:txBody>
          <a:bodyPr/>
          <a:lstStyle/>
          <a:p>
            <a:fld id="{E14E3D01-3A12-49A0-A4EF-467DD25EB402}" type="datetime1">
              <a:rPr lang="en-US" smtClean="0"/>
              <a:pPr/>
              <a:t>06-Apr-17</a:t>
            </a:fld>
            <a:endParaRPr lang="en-US" dirty="0"/>
          </a:p>
        </p:txBody>
      </p:sp>
      <p:sp>
        <p:nvSpPr>
          <p:cNvPr id="5" name="Footer Placeholder 4"/>
          <p:cNvSpPr>
            <a:spLocks noGrp="1"/>
          </p:cNvSpPr>
          <p:nvPr>
            <p:ph type="ftr" sz="quarter" idx="11"/>
          </p:nvPr>
        </p:nvSpPr>
        <p:spPr/>
        <p:txBody>
          <a:bodyPr/>
          <a:lstStyle/>
          <a:p>
            <a:r>
              <a:rPr lang="en-US" smtClean="0"/>
              <a:t>Leave Management System</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49</a:t>
            </a:fld>
            <a:endParaRPr lang="en-US" dirty="0"/>
          </a:p>
        </p:txBody>
      </p:sp>
      <p:pic>
        <p:nvPicPr>
          <p:cNvPr id="7" name="Picture 6"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336675" y="5664634"/>
            <a:ext cx="677903" cy="631995"/>
          </a:xfrm>
          <a:prstGeom prst="rect">
            <a:avLst/>
          </a:prstGeom>
        </p:spPr>
      </p:pic>
      <p:pic>
        <p:nvPicPr>
          <p:cNvPr id="8" name="Picture 7" descr="lms-home-247-icon.png"/>
          <p:cNvPicPr>
            <a:picLocks noChangeAspect="1"/>
          </p:cNvPicPr>
          <p:nvPr/>
        </p:nvPicPr>
        <p:blipFill>
          <a:blip r:embed="rId4">
            <a:duotone>
              <a:schemeClr val="accent6">
                <a:shade val="45000"/>
                <a:satMod val="135000"/>
              </a:schemeClr>
              <a:prstClr val="white"/>
            </a:duotone>
          </a:blip>
          <a:stretch>
            <a:fillRect/>
          </a:stretch>
        </p:blipFill>
        <p:spPr>
          <a:xfrm>
            <a:off x="10991451" y="5841242"/>
            <a:ext cx="298569" cy="476440"/>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Approved Leave Report</a:t>
            </a:r>
            <a:endParaRPr lang="en-US"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50</a:t>
            </a:fld>
            <a:endParaRPr lang="en-US" dirty="0"/>
          </a:p>
        </p:txBody>
      </p:sp>
      <p:pic>
        <p:nvPicPr>
          <p:cNvPr id="8" name="Picture 7" descr="MARCH-2017_Approved_Leave_Report_1_001.jpg"/>
          <p:cNvPicPr>
            <a:picLocks noChangeAspect="1"/>
          </p:cNvPicPr>
          <p:nvPr/>
        </p:nvPicPr>
        <p:blipFill>
          <a:blip r:embed="rId2"/>
          <a:srcRect b="48872"/>
          <a:stretch>
            <a:fillRect/>
          </a:stretch>
        </p:blipFill>
        <p:spPr>
          <a:xfrm>
            <a:off x="3004085" y="0"/>
            <a:ext cx="6698291" cy="4846320"/>
          </a:xfrm>
          <a:prstGeom prst="rect">
            <a:avLst/>
          </a:prstGeom>
        </p:spPr>
      </p:pic>
      <p:pic>
        <p:nvPicPr>
          <p:cNvPr id="9" name="Picture 8"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0" name="Picture 9" descr="lms-home-247-icon.png"/>
          <p:cNvPicPr>
            <a:picLocks noChangeAspect="1"/>
          </p:cNvPicPr>
          <p:nvPr/>
        </p:nvPicPr>
        <p:blipFill>
          <a:blip r:embed="rId5">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Available Leave Report</a:t>
            </a:r>
            <a:endParaRPr lang="en-US"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51</a:t>
            </a:fld>
            <a:endParaRPr lang="en-US" dirty="0"/>
          </a:p>
        </p:txBody>
      </p:sp>
      <p:pic>
        <p:nvPicPr>
          <p:cNvPr id="8" name="Picture 7" descr="MARCH-2017_Available_Leave_Report_1_001.jpg"/>
          <p:cNvPicPr>
            <a:picLocks noChangeAspect="1"/>
          </p:cNvPicPr>
          <p:nvPr/>
        </p:nvPicPr>
        <p:blipFill>
          <a:blip r:embed="rId2"/>
          <a:srcRect b="34129"/>
          <a:stretch>
            <a:fillRect/>
          </a:stretch>
        </p:blipFill>
        <p:spPr>
          <a:xfrm>
            <a:off x="2316455" y="0"/>
            <a:ext cx="7758069" cy="4846320"/>
          </a:xfrm>
          <a:prstGeom prst="rect">
            <a:avLst/>
          </a:prstGeom>
        </p:spPr>
      </p:pic>
      <p:pic>
        <p:nvPicPr>
          <p:cNvPr id="9" name="Picture 8"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0" name="Picture 9" descr="lms-home-247-icon.png"/>
          <p:cNvPicPr>
            <a:picLocks noChangeAspect="1"/>
          </p:cNvPicPr>
          <p:nvPr/>
        </p:nvPicPr>
        <p:blipFill>
          <a:blip r:embed="rId5">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LWP Summary Report</a:t>
            </a:r>
            <a:endParaRPr lang="en-US" dirty="0"/>
          </a:p>
        </p:txBody>
      </p:sp>
      <p:sp>
        <p:nvSpPr>
          <p:cNvPr id="5" name="Date Placeholder 4"/>
          <p:cNvSpPr>
            <a:spLocks noGrp="1"/>
          </p:cNvSpPr>
          <p:nvPr>
            <p:ph type="dt" sz="half" idx="10"/>
          </p:nvPr>
        </p:nvSpPr>
        <p:spPr/>
        <p:txBody>
          <a:bodyPr/>
          <a:lstStyle/>
          <a:p>
            <a:fld id="{665C65C5-E6D5-4FD2-9E21-05C4C1F442C2}" type="datetime1">
              <a:rPr lang="en-US" smtClean="0"/>
              <a:pPr/>
              <a:t>06-Apr-17</a:t>
            </a:fld>
            <a:endParaRPr lang="en-US" dirty="0"/>
          </a:p>
        </p:txBody>
      </p:sp>
      <p:sp>
        <p:nvSpPr>
          <p:cNvPr id="6" name="Footer Placeholder 5"/>
          <p:cNvSpPr>
            <a:spLocks noGrp="1"/>
          </p:cNvSpPr>
          <p:nvPr>
            <p:ph type="ftr" sz="quarter" idx="11"/>
          </p:nvPr>
        </p:nvSpPr>
        <p:spPr/>
        <p:txBody>
          <a:bodyPr/>
          <a:lstStyle/>
          <a:p>
            <a:r>
              <a:rPr lang="en-US" smtClean="0"/>
              <a:t>Leave Management System</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52</a:t>
            </a:fld>
            <a:endParaRPr lang="en-US" dirty="0"/>
          </a:p>
        </p:txBody>
      </p:sp>
      <p:pic>
        <p:nvPicPr>
          <p:cNvPr id="8" name="Picture 7" descr="MARCH-2017_LWPreport_1_001.jpg"/>
          <p:cNvPicPr>
            <a:picLocks noChangeAspect="1"/>
          </p:cNvPicPr>
          <p:nvPr/>
        </p:nvPicPr>
        <p:blipFill>
          <a:blip r:embed="rId2"/>
          <a:srcRect b="48037"/>
          <a:stretch>
            <a:fillRect/>
          </a:stretch>
        </p:blipFill>
        <p:spPr>
          <a:xfrm>
            <a:off x="1790314" y="441687"/>
            <a:ext cx="8731587" cy="3657600"/>
          </a:xfrm>
          <a:prstGeom prst="rect">
            <a:avLst/>
          </a:prstGeom>
        </p:spPr>
      </p:pic>
      <p:pic>
        <p:nvPicPr>
          <p:cNvPr id="9" name="Picture 8" descr="LMS_Social_Media_Icon__Twitter_.png">
            <a:hlinkClick r:id="rId3" action="ppaction://hlinksldjump"/>
          </p:cNvPr>
          <p:cNvPicPr>
            <a:picLocks noChangeAspect="1"/>
          </p:cNvPicPr>
          <p:nvPr/>
        </p:nvPicPr>
        <p:blipFill>
          <a:blip r:embed="rId4">
            <a:duotone>
              <a:schemeClr val="accent6">
                <a:shade val="45000"/>
                <a:satMod val="135000"/>
              </a:schemeClr>
              <a:prstClr val="white"/>
            </a:duotone>
          </a:blip>
          <a:stretch>
            <a:fillRect/>
          </a:stretch>
        </p:blipFill>
        <p:spPr>
          <a:xfrm>
            <a:off x="11435267" y="4277269"/>
            <a:ext cx="677903" cy="631995"/>
          </a:xfrm>
          <a:prstGeom prst="rect">
            <a:avLst/>
          </a:prstGeom>
        </p:spPr>
      </p:pic>
      <p:pic>
        <p:nvPicPr>
          <p:cNvPr id="10" name="Picture 9" descr="lms-home-247-icon.png"/>
          <p:cNvPicPr>
            <a:picLocks noChangeAspect="1"/>
          </p:cNvPicPr>
          <p:nvPr/>
        </p:nvPicPr>
        <p:blipFill>
          <a:blip r:embed="rId5">
            <a:duotone>
              <a:schemeClr val="accent6">
                <a:shade val="45000"/>
                <a:satMod val="135000"/>
              </a:schemeClr>
              <a:prstClr val="white"/>
            </a:duotone>
          </a:blip>
          <a:stretch>
            <a:fillRect/>
          </a:stretch>
        </p:blipFill>
        <p:spPr>
          <a:xfrm>
            <a:off x="11133338" y="4422345"/>
            <a:ext cx="298569" cy="476440"/>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 &amp; Limitations</a:t>
            </a:r>
            <a:endParaRPr lang="en-US" dirty="0"/>
          </a:p>
        </p:txBody>
      </p:sp>
      <p:sp>
        <p:nvSpPr>
          <p:cNvPr id="3" name="Content Placeholder 2"/>
          <p:cNvSpPr>
            <a:spLocks noGrp="1"/>
          </p:cNvSpPr>
          <p:nvPr>
            <p:ph idx="1"/>
          </p:nvPr>
        </p:nvSpPr>
        <p:spPr/>
        <p:txBody>
          <a:bodyPr/>
          <a:lstStyle/>
          <a:p>
            <a:r>
              <a:rPr lang="en-US" sz="2400" dirty="0" smtClean="0"/>
              <a:t>Scope :</a:t>
            </a:r>
          </a:p>
          <a:p>
            <a:pPr>
              <a:lnSpc>
                <a:spcPct val="100000"/>
              </a:lnSpc>
              <a:buFont typeface="Wingdings" pitchFamily="2" charset="2"/>
              <a:buChar char="Ø"/>
            </a:pPr>
            <a:r>
              <a:rPr lang="en-US" dirty="0" smtClean="0">
                <a:solidFill>
                  <a:srgbClr val="2900C0"/>
                </a:solidFill>
              </a:rPr>
              <a:t> </a:t>
            </a:r>
            <a:r>
              <a:rPr lang="en-US" sz="2200" dirty="0" smtClean="0"/>
              <a:t>This project aimed to developing a web based Leave Management System which fulfilled the requirement of Organization; it is accessed through internet by organization employees, manager and HR person and use as require there is provided different features like email notifications, apply leave request, update leave, cancel leave, leave approval or reject, reports, graphical dashboard which provide leave request history, upcoming user birthday list and holiday list and chart which display leave related information, etc.   </a:t>
            </a:r>
          </a:p>
          <a:p>
            <a:pPr>
              <a:buNone/>
            </a:pPr>
            <a:endParaRPr lang="en-US" dirty="0" smtClean="0"/>
          </a:p>
        </p:txBody>
      </p:sp>
      <p:sp>
        <p:nvSpPr>
          <p:cNvPr id="4" name="Date Placeholder 3"/>
          <p:cNvSpPr>
            <a:spLocks noGrp="1"/>
          </p:cNvSpPr>
          <p:nvPr>
            <p:ph type="dt" sz="half" idx="10"/>
          </p:nvPr>
        </p:nvSpPr>
        <p:spPr/>
        <p:txBody>
          <a:bodyPr/>
          <a:lstStyle/>
          <a:p>
            <a:fld id="{D14D875D-B99B-45EB-90EC-C410084B1E0A}" type="datetime1">
              <a:rPr lang="en-US" smtClean="0"/>
              <a:pPr/>
              <a:t>06-Apr-17</a:t>
            </a:fld>
            <a:endParaRPr lang="en-US" dirty="0"/>
          </a:p>
        </p:txBody>
      </p:sp>
      <p:sp>
        <p:nvSpPr>
          <p:cNvPr id="5" name="Footer Placeholder 4"/>
          <p:cNvSpPr>
            <a:spLocks noGrp="1"/>
          </p:cNvSpPr>
          <p:nvPr>
            <p:ph type="ftr" sz="quarter" idx="11"/>
          </p:nvPr>
        </p:nvSpPr>
        <p:spPr/>
        <p:txBody>
          <a:bodyPr/>
          <a:lstStyle/>
          <a:p>
            <a:r>
              <a:rPr lang="en-US" smtClean="0"/>
              <a:t>Leave Management System</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53</a:t>
            </a:fld>
            <a:endParaRPr lang="en-US" dirty="0"/>
          </a:p>
        </p:txBody>
      </p:sp>
      <p:pic>
        <p:nvPicPr>
          <p:cNvPr id="7" name="Picture 6"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336675" y="5664634"/>
            <a:ext cx="677903" cy="631995"/>
          </a:xfrm>
          <a:prstGeom prst="rect">
            <a:avLst/>
          </a:prstGeom>
        </p:spPr>
      </p:pic>
      <p:pic>
        <p:nvPicPr>
          <p:cNvPr id="8" name="Picture 7" descr="lms-home-247-icon.png"/>
          <p:cNvPicPr>
            <a:picLocks noChangeAspect="1"/>
          </p:cNvPicPr>
          <p:nvPr/>
        </p:nvPicPr>
        <p:blipFill>
          <a:blip r:embed="rId4">
            <a:duotone>
              <a:schemeClr val="accent6">
                <a:shade val="45000"/>
                <a:satMod val="135000"/>
              </a:schemeClr>
              <a:prstClr val="white"/>
            </a:duotone>
          </a:blip>
          <a:stretch>
            <a:fillRect/>
          </a:stretch>
        </p:blipFill>
        <p:spPr>
          <a:xfrm>
            <a:off x="10991451" y="5841242"/>
            <a:ext cx="298569" cy="476440"/>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 &amp; Limitations Cont…</a:t>
            </a:r>
            <a:endParaRPr lang="en-US" dirty="0"/>
          </a:p>
        </p:txBody>
      </p:sp>
      <p:sp>
        <p:nvSpPr>
          <p:cNvPr id="3" name="Content Placeholder 2"/>
          <p:cNvSpPr>
            <a:spLocks noGrp="1"/>
          </p:cNvSpPr>
          <p:nvPr>
            <p:ph idx="1"/>
          </p:nvPr>
        </p:nvSpPr>
        <p:spPr/>
        <p:txBody>
          <a:bodyPr>
            <a:normAutofit/>
          </a:bodyPr>
          <a:lstStyle/>
          <a:p>
            <a:pPr>
              <a:lnSpc>
                <a:spcPct val="100000"/>
              </a:lnSpc>
            </a:pPr>
            <a:r>
              <a:rPr lang="en-US" sz="2400" dirty="0" smtClean="0"/>
              <a:t>Limitations:</a:t>
            </a:r>
          </a:p>
          <a:p>
            <a:pPr fontAlgn="base">
              <a:lnSpc>
                <a:spcPct val="100000"/>
              </a:lnSpc>
              <a:buFont typeface="Wingdings" pitchFamily="2" charset="2"/>
              <a:buChar char="Ø"/>
            </a:pPr>
            <a:r>
              <a:rPr lang="en-US" sz="2200" dirty="0" smtClean="0">
                <a:solidFill>
                  <a:srgbClr val="2900C0"/>
                </a:solidFill>
              </a:rPr>
              <a:t> </a:t>
            </a:r>
            <a:r>
              <a:rPr lang="en-US" sz="2200" dirty="0" smtClean="0">
                <a:solidFill>
                  <a:schemeClr val="tx1"/>
                </a:solidFill>
              </a:rPr>
              <a:t>Once leave request approved by the Approval then it would not be able to edit again</a:t>
            </a:r>
          </a:p>
          <a:p>
            <a:pPr fontAlgn="base">
              <a:lnSpc>
                <a:spcPct val="100000"/>
              </a:lnSpc>
              <a:buFont typeface="Wingdings" pitchFamily="2" charset="2"/>
              <a:buChar char="Ø"/>
            </a:pPr>
            <a:r>
              <a:rPr lang="en-US" sz="2200" dirty="0" smtClean="0">
                <a:solidFill>
                  <a:srgbClr val="2900C0"/>
                </a:solidFill>
              </a:rPr>
              <a:t> </a:t>
            </a:r>
            <a:r>
              <a:rPr lang="en-US" sz="2200" dirty="0" smtClean="0">
                <a:solidFill>
                  <a:schemeClr val="tx1"/>
                </a:solidFill>
              </a:rPr>
              <a:t>Application does not support for multiple time zone. Example, if user has applied the  leave from IST time zone that corresponding leave request has representing with wrong date on another time zone.</a:t>
            </a:r>
          </a:p>
          <a:p>
            <a:pPr fontAlgn="base">
              <a:lnSpc>
                <a:spcPct val="100000"/>
              </a:lnSpc>
              <a:buFont typeface="Wingdings" pitchFamily="2" charset="2"/>
              <a:buChar char="Ø"/>
            </a:pPr>
            <a:r>
              <a:rPr lang="en-US" sz="2200" dirty="0" smtClean="0">
                <a:solidFill>
                  <a:srgbClr val="2900C0"/>
                </a:solidFill>
              </a:rPr>
              <a:t> </a:t>
            </a:r>
            <a:r>
              <a:rPr lang="en-US" sz="2200" dirty="0" smtClean="0">
                <a:solidFill>
                  <a:schemeClr val="tx1"/>
                </a:solidFill>
              </a:rPr>
              <a:t>Application is not accessed out of company place and server.</a:t>
            </a:r>
          </a:p>
          <a:p>
            <a:pPr>
              <a:buNone/>
            </a:pPr>
            <a:endParaRPr lang="en-US" dirty="0"/>
          </a:p>
        </p:txBody>
      </p:sp>
      <p:sp>
        <p:nvSpPr>
          <p:cNvPr id="4" name="Date Placeholder 3"/>
          <p:cNvSpPr>
            <a:spLocks noGrp="1"/>
          </p:cNvSpPr>
          <p:nvPr>
            <p:ph type="dt" sz="half" idx="10"/>
          </p:nvPr>
        </p:nvSpPr>
        <p:spPr/>
        <p:txBody>
          <a:bodyPr/>
          <a:lstStyle/>
          <a:p>
            <a:fld id="{D14D875D-B99B-45EB-90EC-C410084B1E0A}" type="datetime1">
              <a:rPr lang="en-US" smtClean="0"/>
              <a:pPr/>
              <a:t>06-Apr-17</a:t>
            </a:fld>
            <a:endParaRPr lang="en-US" dirty="0"/>
          </a:p>
        </p:txBody>
      </p:sp>
      <p:sp>
        <p:nvSpPr>
          <p:cNvPr id="5" name="Footer Placeholder 4"/>
          <p:cNvSpPr>
            <a:spLocks noGrp="1"/>
          </p:cNvSpPr>
          <p:nvPr>
            <p:ph type="ftr" sz="quarter" idx="11"/>
          </p:nvPr>
        </p:nvSpPr>
        <p:spPr/>
        <p:txBody>
          <a:bodyPr/>
          <a:lstStyle/>
          <a:p>
            <a:r>
              <a:rPr lang="en-US" smtClean="0"/>
              <a:t>Leave Management System</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54</a:t>
            </a:fld>
            <a:endParaRPr lang="en-US" dirty="0"/>
          </a:p>
        </p:txBody>
      </p:sp>
      <p:pic>
        <p:nvPicPr>
          <p:cNvPr id="7" name="Picture 6"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336675" y="5664634"/>
            <a:ext cx="677903" cy="631995"/>
          </a:xfrm>
          <a:prstGeom prst="rect">
            <a:avLst/>
          </a:prstGeom>
        </p:spPr>
      </p:pic>
      <p:pic>
        <p:nvPicPr>
          <p:cNvPr id="8" name="Picture 7" descr="lms-home-247-icon.png"/>
          <p:cNvPicPr>
            <a:picLocks noChangeAspect="1"/>
          </p:cNvPicPr>
          <p:nvPr/>
        </p:nvPicPr>
        <p:blipFill>
          <a:blip r:embed="rId4">
            <a:duotone>
              <a:schemeClr val="accent6">
                <a:shade val="45000"/>
                <a:satMod val="135000"/>
              </a:schemeClr>
              <a:prstClr val="white"/>
            </a:duotone>
          </a:blip>
          <a:stretch>
            <a:fillRect/>
          </a:stretch>
        </p:blipFill>
        <p:spPr>
          <a:xfrm>
            <a:off x="10991451" y="5841242"/>
            <a:ext cx="298569" cy="476440"/>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Expansion  </a:t>
            </a:r>
            <a:endParaRPr lang="en-US" dirty="0"/>
          </a:p>
        </p:txBody>
      </p:sp>
      <p:sp>
        <p:nvSpPr>
          <p:cNvPr id="3" name="Content Placeholder 2"/>
          <p:cNvSpPr>
            <a:spLocks noGrp="1"/>
          </p:cNvSpPr>
          <p:nvPr>
            <p:ph idx="1"/>
          </p:nvPr>
        </p:nvSpPr>
        <p:spPr/>
        <p:txBody>
          <a:bodyPr/>
          <a:lstStyle/>
          <a:p>
            <a:pPr lvl="1" fontAlgn="base">
              <a:lnSpc>
                <a:spcPct val="100000"/>
              </a:lnSpc>
              <a:buFont typeface="Wingdings" pitchFamily="2" charset="2"/>
              <a:buChar char="q"/>
            </a:pPr>
            <a:r>
              <a:rPr lang="en-US" sz="2200" dirty="0" smtClean="0"/>
              <a:t> Approval or Admin can see individual users detail and full history from joining date to upward.</a:t>
            </a:r>
          </a:p>
          <a:p>
            <a:pPr lvl="1" fontAlgn="base">
              <a:lnSpc>
                <a:spcPct val="100000"/>
              </a:lnSpc>
              <a:buFont typeface="Wingdings" pitchFamily="2" charset="2"/>
              <a:buChar char="q"/>
            </a:pPr>
            <a:r>
              <a:rPr lang="en-US" sz="2200" dirty="0" smtClean="0"/>
              <a:t> Improve the application which could be flexible for different time zone.</a:t>
            </a:r>
          </a:p>
          <a:p>
            <a:pPr lvl="1" fontAlgn="base">
              <a:lnSpc>
                <a:spcPct val="100000"/>
              </a:lnSpc>
              <a:buFont typeface="Wingdings" pitchFamily="2" charset="2"/>
              <a:buChar char="q"/>
            </a:pPr>
            <a:r>
              <a:rPr lang="en-US" sz="2200" dirty="0" smtClean="0"/>
              <a:t> Integrate the System with access card machine to track working day of employee.</a:t>
            </a:r>
          </a:p>
          <a:p>
            <a:r>
              <a:rPr lang="en-US" dirty="0" smtClean="0"/>
              <a:t/>
            </a:r>
            <a:br>
              <a:rPr lang="en-US" dirty="0" smtClean="0"/>
            </a:br>
            <a:endParaRPr lang="en-US" dirty="0"/>
          </a:p>
        </p:txBody>
      </p:sp>
      <p:sp>
        <p:nvSpPr>
          <p:cNvPr id="4" name="Date Placeholder 3"/>
          <p:cNvSpPr>
            <a:spLocks noGrp="1"/>
          </p:cNvSpPr>
          <p:nvPr>
            <p:ph type="dt" sz="half" idx="10"/>
          </p:nvPr>
        </p:nvSpPr>
        <p:spPr/>
        <p:txBody>
          <a:bodyPr/>
          <a:lstStyle/>
          <a:p>
            <a:fld id="{D14D875D-B99B-45EB-90EC-C410084B1E0A}" type="datetime1">
              <a:rPr lang="en-US" smtClean="0"/>
              <a:pPr/>
              <a:t>06-Apr-17</a:t>
            </a:fld>
            <a:endParaRPr lang="en-US" dirty="0"/>
          </a:p>
        </p:txBody>
      </p:sp>
      <p:sp>
        <p:nvSpPr>
          <p:cNvPr id="5" name="Footer Placeholder 4"/>
          <p:cNvSpPr>
            <a:spLocks noGrp="1"/>
          </p:cNvSpPr>
          <p:nvPr>
            <p:ph type="ftr" sz="quarter" idx="11"/>
          </p:nvPr>
        </p:nvSpPr>
        <p:spPr/>
        <p:txBody>
          <a:bodyPr/>
          <a:lstStyle/>
          <a:p>
            <a:r>
              <a:rPr lang="en-US" smtClean="0"/>
              <a:t>Leave Management System</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55</a:t>
            </a:fld>
            <a:endParaRPr lang="en-US" dirty="0"/>
          </a:p>
        </p:txBody>
      </p:sp>
      <p:pic>
        <p:nvPicPr>
          <p:cNvPr id="7" name="Picture 6" descr="LMS_Social_Media_Icon__Twitter_.png">
            <a:hlinkClick r:id="rId2" action="ppaction://hlinksldjump"/>
          </p:cNvPr>
          <p:cNvPicPr>
            <a:picLocks noChangeAspect="1"/>
          </p:cNvPicPr>
          <p:nvPr/>
        </p:nvPicPr>
        <p:blipFill>
          <a:blip r:embed="rId3">
            <a:duotone>
              <a:schemeClr val="accent6">
                <a:shade val="45000"/>
                <a:satMod val="135000"/>
              </a:schemeClr>
              <a:prstClr val="white"/>
            </a:duotone>
          </a:blip>
          <a:stretch>
            <a:fillRect/>
          </a:stretch>
        </p:blipFill>
        <p:spPr>
          <a:xfrm>
            <a:off x="11336675" y="5664634"/>
            <a:ext cx="677903" cy="631995"/>
          </a:xfrm>
          <a:prstGeom prst="rect">
            <a:avLst/>
          </a:prstGeom>
        </p:spPr>
      </p:pic>
      <p:pic>
        <p:nvPicPr>
          <p:cNvPr id="8" name="Picture 7" descr="lms-home-247-icon.png"/>
          <p:cNvPicPr>
            <a:picLocks noChangeAspect="1"/>
          </p:cNvPicPr>
          <p:nvPr/>
        </p:nvPicPr>
        <p:blipFill>
          <a:blip r:embed="rId4">
            <a:duotone>
              <a:schemeClr val="accent6">
                <a:shade val="45000"/>
                <a:satMod val="135000"/>
              </a:schemeClr>
              <a:prstClr val="white"/>
            </a:duotone>
          </a:blip>
          <a:stretch>
            <a:fillRect/>
          </a:stretch>
        </p:blipFill>
        <p:spPr>
          <a:xfrm>
            <a:off x="10991451" y="5841242"/>
            <a:ext cx="298569" cy="47644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Theme1">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654</TotalTime>
  <Words>2002</Words>
  <Application>Microsoft Office PowerPoint</Application>
  <PresentationFormat>Custom</PresentationFormat>
  <Paragraphs>748</Paragraphs>
  <Slides>55</Slides>
  <Notes>2</Notes>
  <HiddenSlides>0</HiddenSlides>
  <MMClips>0</MMClip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Theme1</vt:lpstr>
      <vt:lpstr>Leave Management System</vt:lpstr>
      <vt:lpstr>Contents</vt:lpstr>
      <vt:lpstr>About The System</vt:lpstr>
      <vt:lpstr>Existing System</vt:lpstr>
      <vt:lpstr>Existing System Cont…</vt:lpstr>
      <vt:lpstr>Proposed System</vt:lpstr>
      <vt:lpstr>Employee Flowchart</vt:lpstr>
      <vt:lpstr>Manager Flowchart</vt:lpstr>
      <vt:lpstr>Admin Flowchart</vt:lpstr>
      <vt:lpstr>Context Diagram</vt:lpstr>
      <vt:lpstr>Employee First Level DFD</vt:lpstr>
      <vt:lpstr>Manager First Level DFD</vt:lpstr>
      <vt:lpstr>Admin First Level DFD</vt:lpstr>
      <vt:lpstr>Entity Relationship Diagram</vt:lpstr>
      <vt:lpstr>Data Dictionary</vt:lpstr>
      <vt:lpstr>Table Name : t_lms_financial_period_config Description: This table contains information of financial period.</vt:lpstr>
      <vt:lpstr>Table Name : t_lms_user_master Description: t_lms_user_master table contain the details of system user.</vt:lpstr>
      <vt:lpstr>Table Name : t_lms_role Description: t_lms_role table contain the name of different role for system.</vt:lpstr>
      <vt:lpstr>Table Name : t_lms_user_role Description: t_lms_user_role table contain the detail of provided roles to user in system.</vt:lpstr>
      <vt:lpstr>Table Name : t_lms_position Description: t_lms_position table contain the name of different position in company.</vt:lpstr>
      <vt:lpstr>Table Name : t_lms_user_position Description: t_lms_user_position table contain the details of assigned position to user in company.</vt:lpstr>
      <vt:lpstr>Table Name : t_lms_leave_type Description: t_lms_leave_type table contain the different type of leaves.</vt:lpstr>
      <vt:lpstr>Table Name : t_lms_position_leave Description: t_lms_position_leave table contain the detail of allowed leave to different position user.</vt:lpstr>
      <vt:lpstr>Table Name : t_lms_leave_incur Description: t_lms_leave_incur table contain the monthly increase applicable leave.</vt:lpstr>
      <vt:lpstr>Table Name : t_lms_leave_deduct Description: t_lms_leave_deduct table contain the deducted approved no of leave from total credited user leave.</vt:lpstr>
      <vt:lpstr>Table Name : t_lms_carry_forward_audit Description: t_lms_carry_forward_audit table contain detail of leave carry forward in next month/year.</vt:lpstr>
      <vt:lpstr>Continue… Table Name : t_lms_carry_forward_audit </vt:lpstr>
      <vt:lpstr>Table Name : t_lms_leave_request Description: t_lms_ leave_request table contain the details of user applied leave request and that detail.</vt:lpstr>
      <vt:lpstr>Continue… Table Name : t_lms_leave_request</vt:lpstr>
      <vt:lpstr>Table Name : t_lms_leave_email_token Description: t_lms_leave_email_token table contain the data of generated email token, which are send to manager / approver for perform action on it.</vt:lpstr>
      <vt:lpstr>Table Name : t_lms_manage_holiday Description: t_lms_manage_holiday table contain the data of current year holidays, it is maintained by system administrator.</vt:lpstr>
      <vt:lpstr>Screen Layout</vt:lpstr>
      <vt:lpstr>Users Management Screen</vt:lpstr>
      <vt:lpstr>User Position Management Screen </vt:lpstr>
      <vt:lpstr>Leave Type Management Screen</vt:lpstr>
      <vt:lpstr>Roles Management Screen</vt:lpstr>
      <vt:lpstr>Historical Leave Screen</vt:lpstr>
      <vt:lpstr>Leave Action Audit Screen</vt:lpstr>
      <vt:lpstr>Reports Screen </vt:lpstr>
      <vt:lpstr>Financial Period Configuration Screen</vt:lpstr>
      <vt:lpstr>Holiday Management Screen</vt:lpstr>
      <vt:lpstr>Employee Dashboard Screen</vt:lpstr>
      <vt:lpstr>Dashboard With Filtered Leave Record</vt:lpstr>
      <vt:lpstr>Apply Leave Screen</vt:lpstr>
      <vt:lpstr>Apply Leave Screen</vt:lpstr>
      <vt:lpstr>Leave Request Confirmation pop up</vt:lpstr>
      <vt:lpstr>Manager Inbox Screen </vt:lpstr>
      <vt:lpstr>Manager Provide Leave Reject Reason </vt:lpstr>
      <vt:lpstr>Generated Reports</vt:lpstr>
      <vt:lpstr>Approved Leave Report</vt:lpstr>
      <vt:lpstr>Available Leave Report</vt:lpstr>
      <vt:lpstr>LWP Summary Report</vt:lpstr>
      <vt:lpstr>Scope &amp; Limitations</vt:lpstr>
      <vt:lpstr>Scope &amp; Limitations Cont…</vt:lpstr>
      <vt:lpstr>Future Expansion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Lenovo</cp:lastModifiedBy>
  <cp:revision>72</cp:revision>
  <dcterms:created xsi:type="dcterms:W3CDTF">2014-09-12T02:11:56Z</dcterms:created>
  <dcterms:modified xsi:type="dcterms:W3CDTF">2017-04-06T08:30:23Z</dcterms:modified>
</cp:coreProperties>
</file>